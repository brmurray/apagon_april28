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3"/>
  </p:sldMasterIdLst>
  <p:notesMasterIdLst>
    <p:notesMasterId r:id="rId33"/>
  </p:notesMasterIdLst>
  <p:sldIdLst>
    <p:sldId id="256" r:id="rId4"/>
    <p:sldId id="373" r:id="rId5"/>
    <p:sldId id="259" r:id="rId6"/>
    <p:sldId id="355" r:id="rId7"/>
    <p:sldId id="376" r:id="rId8"/>
    <p:sldId id="358" r:id="rId9"/>
    <p:sldId id="359" r:id="rId10"/>
    <p:sldId id="362" r:id="rId11"/>
    <p:sldId id="360" r:id="rId12"/>
    <p:sldId id="361" r:id="rId13"/>
    <p:sldId id="363" r:id="rId14"/>
    <p:sldId id="333" r:id="rId15"/>
    <p:sldId id="365" r:id="rId16"/>
    <p:sldId id="364" r:id="rId17"/>
    <p:sldId id="337" r:id="rId18"/>
    <p:sldId id="366" r:id="rId19"/>
    <p:sldId id="367" r:id="rId20"/>
    <p:sldId id="375" r:id="rId21"/>
    <p:sldId id="374" r:id="rId22"/>
    <p:sldId id="342" r:id="rId23"/>
    <p:sldId id="369" r:id="rId24"/>
    <p:sldId id="370" r:id="rId25"/>
    <p:sldId id="371" r:id="rId26"/>
    <p:sldId id="372" r:id="rId27"/>
    <p:sldId id="334" r:id="rId28"/>
    <p:sldId id="260" r:id="rId29"/>
    <p:sldId id="261" r:id="rId30"/>
    <p:sldId id="311" r:id="rId31"/>
    <p:sldId id="310" r:id="rId32"/>
  </p:sldIdLst>
  <p:sldSz cx="12192000" cy="6858000"/>
  <p:notesSz cx="6858000" cy="9144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28"/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12"/>
    <p:restoredTop sz="94694"/>
  </p:normalViewPr>
  <p:slideViewPr>
    <p:cSldViewPr snapToGrid="0">
      <p:cViewPr varScale="1">
        <p:scale>
          <a:sx n="152" d="100"/>
          <a:sy n="152" d="100"/>
        </p:scale>
        <p:origin x="45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BA5D8AD-900F-D197-12C8-E4B60E890E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 dirty="0">
                <a:latin typeface="Cabin Regular" pitchFamily="2" charset="77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519E03-C335-6993-B935-6F5FB88112A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latin typeface="Cabin Regular" pitchFamily="2" charset="77"/>
              </a:defRPr>
            </a:lvl1pPr>
          </a:lstStyle>
          <a:p>
            <a:pPr>
              <a:defRPr/>
            </a:pPr>
            <a:fld id="{26FF5496-C653-4F5C-8C3B-D0A136E01C4D}" type="datetimeFigureOut">
              <a:rPr lang="es-ES"/>
              <a:pPr>
                <a:defRPr/>
              </a:pPr>
              <a:t>19/6/25</a:t>
            </a:fld>
            <a:endParaRPr lang="es-ES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05AABC21-BB58-02DE-A3D0-D780752AA0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" noProof="0"/>
          </a:p>
        </p:txBody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801595BF-66F8-658E-0FBC-60A4C6B5C8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Editar los estilos de texto del patrón
Segundo nivel
Tercer nivel
Cuarto nivel
Quinto nivel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42FF23B-D46C-3045-BD3E-F97B0030A7D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 dirty="0">
                <a:latin typeface="Cabin Regular" pitchFamily="2" charset="77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EF75CA-6AEA-F76A-8E23-15022A971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bin Regular" pitchFamily="2" charset="0"/>
              </a:defRPr>
            </a:lvl1pPr>
          </a:lstStyle>
          <a:p>
            <a:fld id="{6CFC04C1-04CD-4A82-95B9-D86864B7192A}" type="slidenum">
              <a:rPr lang="es-ES" altLang="es-ES"/>
              <a:pPr/>
              <a:t>‹#›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bin Regular" pitchFamily="2" charset="77"/>
        <a:ea typeface="+mn-ea"/>
        <a:cs typeface="+mn-cs"/>
      </a:defRPr>
    </a:lvl1pPr>
    <a:lvl2pPr marL="742950" indent="-28575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Marcador de imagen de diapositiva 1">
            <a:extLst>
              <a:ext uri="{FF2B5EF4-FFF2-40B4-BE49-F238E27FC236}">
                <a16:creationId xmlns:a16="http://schemas.microsoft.com/office/drawing/2014/main" id="{43ECC536-6D7D-F8D7-7555-374B4E2125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2" name="Marcador de notas 2">
            <a:extLst>
              <a:ext uri="{FF2B5EF4-FFF2-40B4-BE49-F238E27FC236}">
                <a16:creationId xmlns:a16="http://schemas.microsoft.com/office/drawing/2014/main" id="{0D30D29B-DC12-790D-F056-EAB0091195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>
              <a:latin typeface="Cabin Regular" pitchFamily="2" charset="0"/>
            </a:endParaRPr>
          </a:p>
        </p:txBody>
      </p:sp>
      <p:sp>
        <p:nvSpPr>
          <p:cNvPr id="51203" name="Marcador de número de diapositiva 3">
            <a:extLst>
              <a:ext uri="{FF2B5EF4-FFF2-40B4-BE49-F238E27FC236}">
                <a16:creationId xmlns:a16="http://schemas.microsoft.com/office/drawing/2014/main" id="{7C5DBEF3-513A-FCE3-E627-BB9B4CFCB9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68447E3-4684-4C46-B953-B396AAB1B1D8}" type="slidenum">
              <a:rPr lang="es-ES" altLang="es-ES">
                <a:latin typeface="Cabin Regular" pitchFamily="2" charset="0"/>
              </a:rPr>
              <a:pPr/>
              <a:t>1</a:t>
            </a:fld>
            <a:endParaRPr lang="es-ES" altLang="es-ES">
              <a:latin typeface="Cabin Regular" pitchFamily="2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C04C1-04CD-4A82-95B9-D86864B7192A}" type="slidenum">
              <a:rPr lang="es-ES" altLang="es-ES" smtClean="0"/>
              <a:pPr/>
              <a:t>10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039929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Marcador de imagen de diapositiva 1">
            <a:extLst>
              <a:ext uri="{FF2B5EF4-FFF2-40B4-BE49-F238E27FC236}">
                <a16:creationId xmlns:a16="http://schemas.microsoft.com/office/drawing/2014/main" id="{7EFDDCBA-CBA0-5C54-3092-7A94A17C63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0" name="Marcador de notas 2">
            <a:extLst>
              <a:ext uri="{FF2B5EF4-FFF2-40B4-BE49-F238E27FC236}">
                <a16:creationId xmlns:a16="http://schemas.microsoft.com/office/drawing/2014/main" id="{C2213D4E-7BCA-D447-4109-DA7878A97B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s-ES">
              <a:latin typeface="Cabin Regular" pitchFamily="2" charset="0"/>
            </a:endParaRPr>
          </a:p>
        </p:txBody>
      </p:sp>
      <p:sp>
        <p:nvSpPr>
          <p:cNvPr id="58371" name="Marcador de número de diapositiva 3">
            <a:extLst>
              <a:ext uri="{FF2B5EF4-FFF2-40B4-BE49-F238E27FC236}">
                <a16:creationId xmlns:a16="http://schemas.microsoft.com/office/drawing/2014/main" id="{F233679E-6250-271C-4E7E-AAEED88F07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1E47D7E-BBE1-4DFA-AF7E-CFD9BC6BD159}" type="slidenum">
              <a:rPr lang="es-ES" altLang="es-ES">
                <a:latin typeface="Cabin Regular" pitchFamily="2" charset="0"/>
              </a:rPr>
              <a:pPr/>
              <a:t>28</a:t>
            </a:fld>
            <a:endParaRPr lang="es-ES" altLang="es-ES">
              <a:latin typeface="Cabin Regular" pitchFamily="2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28FD5-81A3-3B4B-9EE3-955C51D4B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C80B2D-5C78-584C-8000-7E3A5C2D1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28F368-1C95-B706-8D3C-19F789307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C4E9E0-B3F9-4104-BB39-F8E96513EFFE}" type="datetime1">
              <a:rPr lang="es-ES" smtClean="0"/>
              <a:t>19/6/25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E1F553-2997-FF51-C6E5-983C06194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299B9F-0F2C-1987-61A8-A63DAC597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E8A5F1-A569-4BCF-B344-5DBBFBE7658F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033037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B4F90B-4DAA-3741-9C3E-37944D5AD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6173"/>
            <a:ext cx="10515600" cy="4930790"/>
          </a:xfrm>
        </p:spPr>
        <p:txBody>
          <a:bodyPr/>
          <a:lstStyle/>
          <a:p>
            <a:r>
              <a:rPr lang="es-ES" dirty="0"/>
              <a:t>Editar los estilos de texto del patrón
Segundo nivel
Tercer nivel
Cuarto nivel
Quinto nivel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25D70D-50E5-0943-AB0E-C03E7F157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36" y="136525"/>
            <a:ext cx="10104672" cy="745507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4D4A1B-A26B-3CE1-0D8F-BCA1550666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27812"/>
            <a:ext cx="2743200" cy="26813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261817-F231-4105-ACC8-75380DF33C1E}" type="datetime1">
              <a:rPr lang="es-ES" smtClean="0"/>
              <a:t>19/6/25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FDEDB9-AB75-C88C-A13B-2EED1C5A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27814"/>
            <a:ext cx="4114800" cy="26813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Apagón – April 28, 2025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F29034-E4C6-8D77-2EFF-E0FC67201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27813"/>
            <a:ext cx="2743200" cy="268133"/>
          </a:xfrm>
        </p:spPr>
        <p:txBody>
          <a:bodyPr/>
          <a:lstStyle>
            <a:lvl1pPr>
              <a:defRPr/>
            </a:lvl1pPr>
          </a:lstStyle>
          <a:p>
            <a:fld id="{D86B3D54-5C84-4380-B90C-31F636633DA2}" type="slidenum">
              <a:rPr lang="es-ES" altLang="es-ES"/>
              <a:pPr/>
              <a:t>‹#›</a:t>
            </a:fld>
            <a:endParaRPr lang="es-ES" altLang="es-ES"/>
          </a:p>
        </p:txBody>
      </p:sp>
      <p:pic>
        <p:nvPicPr>
          <p:cNvPr id="8" name="Imagen 5">
            <a:extLst>
              <a:ext uri="{FF2B5EF4-FFF2-40B4-BE49-F238E27FC236}">
                <a16:creationId xmlns:a16="http://schemas.microsoft.com/office/drawing/2014/main" id="{21ABD7B5-94A9-AF58-CC5C-D952C79FDB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1908" y="136525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FB8F6A76-4A25-1AA1-FA23-954B34AFDB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6525"/>
            <a:ext cx="1028353" cy="758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5852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E3A3CE-8DE4-1440-8E69-D284A3AD1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691E4C-C54D-6349-B7CD-B42565BF1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77DF65-7283-E176-F8F9-24389E07F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33D45C-A159-4290-849D-4C55782B747E}" type="datetime1">
              <a:rPr lang="es-ES" smtClean="0"/>
              <a:t>19/6/25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9D6ED9-01EE-8B1C-6253-1B1FC3678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10AB2C-36C6-8263-22A9-BA7A7BAC5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0C3CBC-8809-4872-8192-673FF665A665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849099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64D247-396A-0240-81CE-37DC1000E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90F415-57A1-E04A-A0BB-F7036FB2D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24AD9F9-9943-1C46-BBA3-7E8D90893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D82421A-790B-EC73-4127-F73EC7D89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C8C649-08CF-4E01-8905-C809A36F6021}" type="datetime1">
              <a:rPr lang="es-ES" smtClean="0"/>
              <a:t>19/6/25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A08DC9-F434-0936-C244-C9AA10E15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FA91D1-23E7-DB82-4D54-2CA1ED93B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101B5A-A9A3-4764-8C9B-2063BF483240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531118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75699-9F02-4144-8D20-293631699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B4881B-1B91-5946-912E-3109763A8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7B2F5C-AF28-144A-B402-603FF2169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CBCFADD-9647-7946-A244-9FCC169A2F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2691073-641D-384B-BED4-0FC349CE19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0F6A4F7-A233-B1BD-9CD1-5395E168A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FE5C1-FFDC-425F-A1F2-1672BC227ACA}" type="datetime1">
              <a:rPr lang="es-ES" smtClean="0"/>
              <a:t>19/6/25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BF95118-BB05-BF00-8AEF-7086AF7F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F4DAF7B-8451-A4FF-2AA1-1A7D6115B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BAA730-BA38-49CE-901A-010938760363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718149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939C5-C25D-D541-887D-D73644E8B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FFCC31C-694E-A70D-17CF-FAA6F6506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EAD619-8BAB-49A3-B0CE-2A9D98840EB9}" type="datetime1">
              <a:rPr lang="es-ES" smtClean="0"/>
              <a:t>19/6/25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F71F3C-4963-6B6E-A7D9-5B0134188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D50CF-741D-6A57-198A-2C04CD4DE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AD2B0E-41EF-4821-AC9E-23829B4CE29B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195234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A68C1F4-1A93-9CCC-8BD8-7D5526842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9459DC-3678-4699-A046-149B616B5321}" type="datetime1">
              <a:rPr lang="es-ES" smtClean="0"/>
              <a:t>19/6/25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86A0359-FD98-4C2A-8E6A-89449188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Apagón – April 28, 2025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E24AE9-0BFC-77CA-0F13-BF7CABA7F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0BEE8C-9BC8-4092-9420-3642836EC31C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37272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402807-A8AF-B144-B12C-AFE00452B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181993-CBB6-5545-BE79-6EBF173E3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1E3EF6-C7FA-F24A-9E74-F5F189CD8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79EF1F-15C3-96F9-81FA-C4D45AF4E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297841-9C7B-4697-A49A-0D2556730D1A}" type="datetime1">
              <a:rPr lang="es-ES" smtClean="0"/>
              <a:t>19/6/25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485B21-D622-8C73-4F21-345BDF581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75135F-DEB5-463E-A766-12D536C15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8E97CD-8D8D-489F-AF0B-9C71FB7F20F9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131565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70FC78-1A94-CA4F-956C-2D54828BE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5A04C5A-5825-5B4B-AE0D-F4AF9FF043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97C2EB-CA16-EC41-B29B-51D433672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F58460-C914-3CCB-7F49-654A16B99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D2BDBA-CD70-4054-9E2A-88A88D237B78}" type="datetime1">
              <a:rPr lang="es-ES" smtClean="0"/>
              <a:t>19/6/25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E31933-4C4E-BE0A-10D8-BAC156FD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8E20AC-9940-576F-02DF-A8340909F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B694BA-4FEE-46DB-BB16-F634701BE9FD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369968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F80427-219A-8047-BFB3-7832C47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DD23888-1CCA-F74A-B710-1CD70CBC1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8B0AB5-4C95-A9CF-93BC-0CA07FB1E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DF384E-2141-45FA-86B8-4035FECD32BB}" type="datetime1">
              <a:rPr lang="es-ES" smtClean="0"/>
              <a:t>19/6/25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823C3B-0208-2093-C378-B5EF75D5F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C39CDB-861A-E158-B1AB-16A66A51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57C7D6-2141-4D62-877D-3E2CE92B2683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093451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DF2380C-E6CB-6644-B995-2C0E83F957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19E8F4-7520-1E46-ADED-3A4F71AC6A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2D4F69-07A0-AB91-ECDE-39A969A7F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04F67A-A11F-44C2-A1E8-90455DDFC625}" type="datetime1">
              <a:rPr lang="es-ES" smtClean="0"/>
              <a:t>19/6/25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3B7A33-9F25-5FFB-5C17-939342FC9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8E88CF-9AA3-105D-8958-A28E53306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EC34C1-886F-4D38-938C-93DBF1477AAC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089470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3E3">
            <a:alpha val="79999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FE509A8-BF6D-9E47-817D-688D81DDA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6867" name="Marcador de texto 2">
            <a:extLst>
              <a:ext uri="{FF2B5EF4-FFF2-40B4-BE49-F238E27FC236}">
                <a16:creationId xmlns:a16="http://schemas.microsoft.com/office/drawing/2014/main" id="{85E673B9-01A9-7CBE-D19E-56FE0E15DE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FD56A1-564E-F949-BA27-3C057E993A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solidFill>
                  <a:schemeClr val="tx1">
                    <a:tint val="75000"/>
                  </a:schemeClr>
                </a:solidFill>
                <a:latin typeface="Cabin Regular" pitchFamily="2" charset="77"/>
              </a:defRPr>
            </a:lvl1pPr>
          </a:lstStyle>
          <a:p>
            <a:pPr>
              <a:defRPr/>
            </a:pPr>
            <a:fld id="{7BAEFEA7-FA12-4EE1-A405-B5F3690C8AD7}" type="datetime1">
              <a:rPr lang="es-ES" smtClean="0"/>
              <a:t>19/6/25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9042B4-BA0A-E54B-ABC9-40418A6192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0" i="0" dirty="0">
                <a:solidFill>
                  <a:schemeClr val="tx1">
                    <a:tint val="75000"/>
                  </a:schemeClr>
                </a:solidFill>
                <a:latin typeface="Cabin Regular" pitchFamily="2" charset="77"/>
              </a:defRPr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9D838A-4A3C-BD40-A14E-744D3D1157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bin Regular" pitchFamily="2" charset="0"/>
              </a:defRPr>
            </a:lvl1pPr>
          </a:lstStyle>
          <a:p>
            <a:fld id="{E21DC4EC-5AFD-4ECA-9B8D-B24FBA450EDF}" type="slidenum">
              <a:rPr lang="es-ES" altLang="es-ES"/>
              <a:pPr/>
              <a:t>‹#›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hd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600" kern="1200" cap="all">
          <a:solidFill>
            <a:schemeClr val="tx1"/>
          </a:solidFill>
          <a:latin typeface="Cabin" pitchFamily="2" charset="77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bin Regular" pitchFamily="2" charset="77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lpais.com/clima-y-medio-ambiente/2025-05-02/que-causo-el-apagon-explicacion-visual-y-breve-de-lo-que-sabemos.html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amoncloa.gob.es/consejodeministros/resumenes/Documents/2025/Informe-no-confidencial-Comite-de-analisis-28A.pdf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epublicdownloads.entsoe.eu/clean-documents/Network%20codes%20documents/NC%20RfG/IGD_RoCoF_withstand_capability_final.pdf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ntsoe.eu/2025/01/23/entso-e-releases-the-latest-work-from-project-inertia-which-studies-the-evolution-of-the-inertia-levels-in-the-long-term-horizons-in-the-continental-europe-synchronous-area-and-the-challenges-emerging-from-their-decrease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eepublicdownloads.entsoe.eu/clean-documents/SOC%20documents/Inertia%20and%20RoCoF_v17_clean.pdf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eepublicdownloads.entsoe.eu/clean-documents/SOC%20documents/Inertia%20and%20RoCoF_v17_clean.pdf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elpais.com/clima-y-medio-ambiente/2025-05-02/que-causo-el-apagon-explicacion-visual-y-breve-de-lo-que-sabemos.html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lpais.com/clima-y-medio-ambiente/2025-05-02/que-causo-el-apagon-explicacion-visual-y-breve-de-lo-que-sabemos.html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tsoe.eu/data/map/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mailto:garciafpablo@uniovi.es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3E3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8" name="Grupo 29">
            <a:extLst>
              <a:ext uri="{FF2B5EF4-FFF2-40B4-BE49-F238E27FC236}">
                <a16:creationId xmlns:a16="http://schemas.microsoft.com/office/drawing/2014/main" id="{5DC4880B-E641-8A7F-E2A5-EABD153606CA}"/>
              </a:ext>
            </a:extLst>
          </p:cNvPr>
          <p:cNvGrpSpPr>
            <a:grpSpLocks/>
          </p:cNvGrpSpPr>
          <p:nvPr/>
        </p:nvGrpSpPr>
        <p:grpSpPr bwMode="auto">
          <a:xfrm>
            <a:off x="133350" y="2024063"/>
            <a:ext cx="11857038" cy="349250"/>
            <a:chOff x="133564" y="2383604"/>
            <a:chExt cx="11856362" cy="349322"/>
          </a:xfrm>
        </p:grpSpPr>
        <p:sp>
          <p:nvSpPr>
            <p:cNvPr id="7" name="Paralelogramo 6">
              <a:extLst>
                <a:ext uri="{FF2B5EF4-FFF2-40B4-BE49-F238E27FC236}">
                  <a16:creationId xmlns:a16="http://schemas.microsoft.com/office/drawing/2014/main" id="{56F46D9E-9C2D-1A43-8888-044DF871EF5B}"/>
                </a:ext>
              </a:extLst>
            </p:cNvPr>
            <p:cNvSpPr/>
            <p:nvPr/>
          </p:nvSpPr>
          <p:spPr>
            <a:xfrm>
              <a:off x="133564" y="2383604"/>
              <a:ext cx="420664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9" name="Paralelogramo 8">
              <a:extLst>
                <a:ext uri="{FF2B5EF4-FFF2-40B4-BE49-F238E27FC236}">
                  <a16:creationId xmlns:a16="http://schemas.microsoft.com/office/drawing/2014/main" id="{760FDF85-6A7E-ED41-A695-389FB24CEB46}"/>
                </a:ext>
              </a:extLst>
            </p:cNvPr>
            <p:cNvSpPr/>
            <p:nvPr/>
          </p:nvSpPr>
          <p:spPr>
            <a:xfrm>
              <a:off x="708206" y="2383604"/>
              <a:ext cx="422251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0" name="Paralelogramo 9">
              <a:extLst>
                <a:ext uri="{FF2B5EF4-FFF2-40B4-BE49-F238E27FC236}">
                  <a16:creationId xmlns:a16="http://schemas.microsoft.com/office/drawing/2014/main" id="{2EFD06AC-CE98-6E40-BE78-CC174C1580E3}"/>
                </a:ext>
              </a:extLst>
            </p:cNvPr>
            <p:cNvSpPr/>
            <p:nvPr/>
          </p:nvSpPr>
          <p:spPr>
            <a:xfrm>
              <a:off x="1284436" y="2383604"/>
              <a:ext cx="420663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2" name="Paralelogramo 11">
              <a:extLst>
                <a:ext uri="{FF2B5EF4-FFF2-40B4-BE49-F238E27FC236}">
                  <a16:creationId xmlns:a16="http://schemas.microsoft.com/office/drawing/2014/main" id="{BD49762B-AE25-E146-BB9E-8DD450A71383}"/>
                </a:ext>
              </a:extLst>
            </p:cNvPr>
            <p:cNvSpPr/>
            <p:nvPr/>
          </p:nvSpPr>
          <p:spPr>
            <a:xfrm>
              <a:off x="1859079" y="2383604"/>
              <a:ext cx="422251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3" name="Paralelogramo 12">
              <a:extLst>
                <a:ext uri="{FF2B5EF4-FFF2-40B4-BE49-F238E27FC236}">
                  <a16:creationId xmlns:a16="http://schemas.microsoft.com/office/drawing/2014/main" id="{06C07069-724F-554A-99E7-102C6BF1A9E5}"/>
                </a:ext>
              </a:extLst>
            </p:cNvPr>
            <p:cNvSpPr/>
            <p:nvPr/>
          </p:nvSpPr>
          <p:spPr>
            <a:xfrm>
              <a:off x="2435308" y="2383604"/>
              <a:ext cx="420664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4" name="Paralelogramo 13">
              <a:extLst>
                <a:ext uri="{FF2B5EF4-FFF2-40B4-BE49-F238E27FC236}">
                  <a16:creationId xmlns:a16="http://schemas.microsoft.com/office/drawing/2014/main" id="{C2FFFD3A-E8C3-0942-9B5E-FFFB1A5E5F08}"/>
                </a:ext>
              </a:extLst>
            </p:cNvPr>
            <p:cNvSpPr/>
            <p:nvPr/>
          </p:nvSpPr>
          <p:spPr>
            <a:xfrm>
              <a:off x="3009950" y="2383604"/>
              <a:ext cx="422251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5" name="Paralelogramo 14">
              <a:extLst>
                <a:ext uri="{FF2B5EF4-FFF2-40B4-BE49-F238E27FC236}">
                  <a16:creationId xmlns:a16="http://schemas.microsoft.com/office/drawing/2014/main" id="{2FC786AE-4CE5-B845-AE05-7554A0847D98}"/>
                </a:ext>
              </a:extLst>
            </p:cNvPr>
            <p:cNvSpPr/>
            <p:nvPr/>
          </p:nvSpPr>
          <p:spPr>
            <a:xfrm>
              <a:off x="3586180" y="2383604"/>
              <a:ext cx="420663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6" name="Paralelogramo 15">
              <a:extLst>
                <a:ext uri="{FF2B5EF4-FFF2-40B4-BE49-F238E27FC236}">
                  <a16:creationId xmlns:a16="http://schemas.microsoft.com/office/drawing/2014/main" id="{0A40CEE6-477A-274E-B9AB-A937F43981D7}"/>
                </a:ext>
              </a:extLst>
            </p:cNvPr>
            <p:cNvSpPr/>
            <p:nvPr/>
          </p:nvSpPr>
          <p:spPr>
            <a:xfrm>
              <a:off x="4160822" y="2383604"/>
              <a:ext cx="420663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7" name="Paralelogramo 16">
              <a:extLst>
                <a:ext uri="{FF2B5EF4-FFF2-40B4-BE49-F238E27FC236}">
                  <a16:creationId xmlns:a16="http://schemas.microsoft.com/office/drawing/2014/main" id="{6B4C58FA-180D-934E-9CB1-749539ECEA3C}"/>
                </a:ext>
              </a:extLst>
            </p:cNvPr>
            <p:cNvSpPr/>
            <p:nvPr/>
          </p:nvSpPr>
          <p:spPr>
            <a:xfrm>
              <a:off x="7542005" y="2383604"/>
              <a:ext cx="420663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8" name="Paralelogramo 17">
              <a:extLst>
                <a:ext uri="{FF2B5EF4-FFF2-40B4-BE49-F238E27FC236}">
                  <a16:creationId xmlns:a16="http://schemas.microsoft.com/office/drawing/2014/main" id="{D1CCF648-2D08-5545-B694-0569A18C544C}"/>
                </a:ext>
              </a:extLst>
            </p:cNvPr>
            <p:cNvSpPr/>
            <p:nvPr/>
          </p:nvSpPr>
          <p:spPr>
            <a:xfrm>
              <a:off x="8116647" y="2383604"/>
              <a:ext cx="420663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9" name="Paralelogramo 18">
              <a:extLst>
                <a:ext uri="{FF2B5EF4-FFF2-40B4-BE49-F238E27FC236}">
                  <a16:creationId xmlns:a16="http://schemas.microsoft.com/office/drawing/2014/main" id="{D7E09A2D-DCD8-3045-87EE-F3DCF8EAF516}"/>
                </a:ext>
              </a:extLst>
            </p:cNvPr>
            <p:cNvSpPr/>
            <p:nvPr/>
          </p:nvSpPr>
          <p:spPr>
            <a:xfrm>
              <a:off x="8691289" y="2383604"/>
              <a:ext cx="422251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20" name="Paralelogramo 19">
              <a:extLst>
                <a:ext uri="{FF2B5EF4-FFF2-40B4-BE49-F238E27FC236}">
                  <a16:creationId xmlns:a16="http://schemas.microsoft.com/office/drawing/2014/main" id="{02CE0388-8321-8148-B46B-35C15E5B5F4B}"/>
                </a:ext>
              </a:extLst>
            </p:cNvPr>
            <p:cNvSpPr/>
            <p:nvPr/>
          </p:nvSpPr>
          <p:spPr>
            <a:xfrm>
              <a:off x="9267518" y="2383604"/>
              <a:ext cx="420664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21" name="Paralelogramo 20">
              <a:extLst>
                <a:ext uri="{FF2B5EF4-FFF2-40B4-BE49-F238E27FC236}">
                  <a16:creationId xmlns:a16="http://schemas.microsoft.com/office/drawing/2014/main" id="{9EC0B694-D3EB-2A49-8B03-A2CEE89748D6}"/>
                </a:ext>
              </a:extLst>
            </p:cNvPr>
            <p:cNvSpPr/>
            <p:nvPr/>
          </p:nvSpPr>
          <p:spPr>
            <a:xfrm>
              <a:off x="9842160" y="2383604"/>
              <a:ext cx="422251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22" name="Paralelogramo 21">
              <a:extLst>
                <a:ext uri="{FF2B5EF4-FFF2-40B4-BE49-F238E27FC236}">
                  <a16:creationId xmlns:a16="http://schemas.microsoft.com/office/drawing/2014/main" id="{43BCFA38-9DE4-2140-BD07-6476B705E3D1}"/>
                </a:ext>
              </a:extLst>
            </p:cNvPr>
            <p:cNvSpPr/>
            <p:nvPr/>
          </p:nvSpPr>
          <p:spPr>
            <a:xfrm>
              <a:off x="10418391" y="2383604"/>
              <a:ext cx="420663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23" name="Paralelogramo 22">
              <a:extLst>
                <a:ext uri="{FF2B5EF4-FFF2-40B4-BE49-F238E27FC236}">
                  <a16:creationId xmlns:a16="http://schemas.microsoft.com/office/drawing/2014/main" id="{DEA16356-29C1-5D43-95BB-3BF3C0B75DDA}"/>
                </a:ext>
              </a:extLst>
            </p:cNvPr>
            <p:cNvSpPr/>
            <p:nvPr/>
          </p:nvSpPr>
          <p:spPr>
            <a:xfrm>
              <a:off x="10993033" y="2383604"/>
              <a:ext cx="422251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24" name="Paralelogramo 23">
              <a:extLst>
                <a:ext uri="{FF2B5EF4-FFF2-40B4-BE49-F238E27FC236}">
                  <a16:creationId xmlns:a16="http://schemas.microsoft.com/office/drawing/2014/main" id="{F9E3F15F-71B2-BF41-965B-944376CAB09E}"/>
                </a:ext>
              </a:extLst>
            </p:cNvPr>
            <p:cNvSpPr/>
            <p:nvPr/>
          </p:nvSpPr>
          <p:spPr>
            <a:xfrm>
              <a:off x="11569262" y="2383604"/>
              <a:ext cx="420664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</p:grpSp>
      <p:pic>
        <p:nvPicPr>
          <p:cNvPr id="50179" name="Imagen 25">
            <a:extLst>
              <a:ext uri="{FF2B5EF4-FFF2-40B4-BE49-F238E27FC236}">
                <a16:creationId xmlns:a16="http://schemas.microsoft.com/office/drawing/2014/main" id="{F814467B-C684-E419-734E-C1EE4C2F4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00" y="274638"/>
            <a:ext cx="1809750" cy="127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1" name="Imagen 28">
            <a:extLst>
              <a:ext uri="{FF2B5EF4-FFF2-40B4-BE49-F238E27FC236}">
                <a16:creationId xmlns:a16="http://schemas.microsoft.com/office/drawing/2014/main" id="{C9A62672-A14B-636A-D2E0-5215AD5A3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34" y="390963"/>
            <a:ext cx="3475038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6630A917-00DC-C544-9F3C-0F55598DEC52}"/>
              </a:ext>
            </a:extLst>
          </p:cNvPr>
          <p:cNvSpPr txBox="1"/>
          <p:nvPr/>
        </p:nvSpPr>
        <p:spPr>
          <a:xfrm>
            <a:off x="1292225" y="5764027"/>
            <a:ext cx="9709150" cy="646331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b="1" dirty="0">
                <a:latin typeface="Open Sans Extrabold"/>
                <a:ea typeface="Open Sans Extrabold"/>
                <a:cs typeface="Open Sans Extrabold"/>
              </a:rPr>
              <a:t>LEMUR</a:t>
            </a:r>
            <a:r>
              <a:rPr lang="es-ES" dirty="0">
                <a:latin typeface="Open Sans"/>
                <a:ea typeface="Open Sans"/>
                <a:cs typeface="Open Sans"/>
              </a:rPr>
              <a:t>. </a:t>
            </a:r>
            <a:r>
              <a:rPr lang="es-E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  <a:ea typeface="Open Sans"/>
                <a:cs typeface="Open Sans"/>
              </a:rPr>
              <a:t>University</a:t>
            </a:r>
            <a:r>
              <a:rPr lang="es-ES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s-E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  <a:ea typeface="Open Sans"/>
                <a:cs typeface="Open Sans"/>
              </a:rPr>
              <a:t>of</a:t>
            </a:r>
            <a:r>
              <a:rPr lang="es-ES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  <a:ea typeface="Open Sans"/>
                <a:cs typeface="Open Sans"/>
              </a:rPr>
              <a:t> Oviedo</a:t>
            </a:r>
            <a:br>
              <a:rPr lang="es-E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s-ES" dirty="0" err="1">
                <a:latin typeface="Cabin"/>
                <a:ea typeface="Open Sans"/>
                <a:cs typeface="Open Sans"/>
              </a:rPr>
              <a:t>Department</a:t>
            </a:r>
            <a:r>
              <a:rPr lang="es-ES" dirty="0">
                <a:latin typeface="Cabin"/>
                <a:ea typeface="Open Sans"/>
                <a:cs typeface="Open Sans"/>
              </a:rPr>
              <a:t> </a:t>
            </a:r>
            <a:r>
              <a:rPr lang="es-ES" dirty="0" err="1">
                <a:latin typeface="Cabin"/>
                <a:ea typeface="Open Sans"/>
                <a:cs typeface="Open Sans"/>
              </a:rPr>
              <a:t>of</a:t>
            </a:r>
            <a:r>
              <a:rPr lang="es-ES" dirty="0">
                <a:latin typeface="Cabin"/>
                <a:ea typeface="Open Sans"/>
                <a:cs typeface="Open Sans"/>
              </a:rPr>
              <a:t> </a:t>
            </a:r>
            <a:r>
              <a:rPr lang="es-ES" dirty="0" err="1">
                <a:latin typeface="Cabin"/>
                <a:ea typeface="Open Sans"/>
                <a:cs typeface="Open Sans"/>
              </a:rPr>
              <a:t>Electrical</a:t>
            </a:r>
            <a:r>
              <a:rPr lang="es-ES" dirty="0">
                <a:latin typeface="Cabin"/>
                <a:ea typeface="Open Sans"/>
                <a:cs typeface="Open Sans"/>
              </a:rPr>
              <a:t> </a:t>
            </a:r>
            <a:r>
              <a:rPr lang="es-ES" dirty="0" err="1">
                <a:latin typeface="Cabin"/>
                <a:ea typeface="Open Sans"/>
                <a:cs typeface="Open Sans"/>
              </a:rPr>
              <a:t>Engineering</a:t>
            </a:r>
            <a:r>
              <a:rPr lang="es-ES" dirty="0">
                <a:latin typeface="Cabin"/>
                <a:ea typeface="Open Sans"/>
                <a:cs typeface="Open Sans"/>
              </a:rPr>
              <a:t> – lemur@uniovi.es </a:t>
            </a:r>
            <a:endParaRPr lang="es-ES" dirty="0"/>
          </a:p>
        </p:txBody>
      </p:sp>
      <p:sp>
        <p:nvSpPr>
          <p:cNvPr id="38" name="Marcador de número de diapositiva 37">
            <a:extLst>
              <a:ext uri="{FF2B5EF4-FFF2-40B4-BE49-F238E27FC236}">
                <a16:creationId xmlns:a16="http://schemas.microsoft.com/office/drawing/2014/main" id="{1C9AE21D-258A-3942-8207-AEFDB194B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E451CD6-3528-4897-B5EF-44F054C4B69D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1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4">
            <a:extLst>
              <a:ext uri="{FF2B5EF4-FFF2-40B4-BE49-F238E27FC236}">
                <a16:creationId xmlns:a16="http://schemas.microsoft.com/office/drawing/2014/main" id="{7A88981A-91D2-0B2B-48CA-3A28CC754594}"/>
              </a:ext>
            </a:extLst>
          </p:cNvPr>
          <p:cNvSpPr txBox="1"/>
          <p:nvPr/>
        </p:nvSpPr>
        <p:spPr>
          <a:xfrm>
            <a:off x="713618" y="4280365"/>
            <a:ext cx="10764764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sz="3200" kern="100" dirty="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Apagón - April 28, 2025</a:t>
            </a:r>
            <a:endParaRPr lang="en-US" sz="3200" kern="100" dirty="0">
              <a:solidFill>
                <a:schemeClr val="tx2"/>
              </a:solidFill>
              <a:effectLst/>
              <a:latin typeface="Calibri"/>
              <a:ea typeface="Calibri"/>
              <a:cs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881CB0C-13F4-E16E-EF14-D8AA42F5F3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5338" y="1712365"/>
            <a:ext cx="2981325" cy="2676525"/>
          </a:xfrm>
          <a:prstGeom prst="rect">
            <a:avLst/>
          </a:prstGeom>
        </p:spPr>
      </p:pic>
      <p:sp>
        <p:nvSpPr>
          <p:cNvPr id="2" name="CuadroTexto 4">
            <a:extLst>
              <a:ext uri="{FF2B5EF4-FFF2-40B4-BE49-F238E27FC236}">
                <a16:creationId xmlns:a16="http://schemas.microsoft.com/office/drawing/2014/main" id="{69978582-A0E4-3481-CFD7-1F782E6F98E8}"/>
              </a:ext>
            </a:extLst>
          </p:cNvPr>
          <p:cNvSpPr txBox="1"/>
          <p:nvPr/>
        </p:nvSpPr>
        <p:spPr>
          <a:xfrm>
            <a:off x="3336746" y="4960640"/>
            <a:ext cx="5620107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sz="2000" i="1" kern="100" dirty="0">
                <a:latin typeface="Calibri"/>
                <a:ea typeface="Calibri"/>
                <a:cs typeface="Calibri"/>
              </a:rPr>
              <a:t>Update: June 19, 2025</a:t>
            </a:r>
          </a:p>
          <a:p>
            <a:pPr algn="ctr"/>
            <a:r>
              <a:rPr lang="en-US" sz="2000" i="1" kern="100" dirty="0">
                <a:effectLst/>
                <a:latin typeface="Calibri"/>
                <a:ea typeface="Calibri"/>
                <a:cs typeface="Calibri"/>
              </a:rPr>
              <a:t>Authors: Bryan Murray, Dr. Pablo García Fernández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1DBB8C-AD21-ED4F-B03A-6A8540A44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267" y="1077615"/>
            <a:ext cx="7858666" cy="5171880"/>
          </a:xfrm>
        </p:spPr>
        <p:txBody>
          <a:bodyPr/>
          <a:lstStyle/>
          <a:p>
            <a:r>
              <a:rPr lang="en-US" sz="2400" dirty="0"/>
              <a:t>The authors* believe there are perfectly plausible technical explanations for the Iberian blackout of April 28, 2025. </a:t>
            </a:r>
          </a:p>
          <a:p>
            <a:r>
              <a:rPr lang="en-US" sz="2400" dirty="0"/>
              <a:t>The authors are focused on the technical explanations which can be justified with knowledge of the physical infrastructure. In other words, we are not considering cyber-attacks, human errors, or extraordinary meteorological conditions.</a:t>
            </a:r>
          </a:p>
          <a:p>
            <a:r>
              <a:rPr lang="en-US" sz="2400" dirty="0"/>
              <a:t>For now, we are simply presenting what data we have and will use as a basis for much more engineering analysis.</a:t>
            </a:r>
          </a:p>
          <a:p>
            <a:r>
              <a:rPr lang="en-US" sz="2400" dirty="0"/>
              <a:t>We are </a:t>
            </a:r>
            <a:r>
              <a:rPr lang="en-US" sz="2400" b="1" dirty="0">
                <a:solidFill>
                  <a:srgbClr val="FFC000"/>
                </a:solidFill>
              </a:rPr>
              <a:t>NOT</a:t>
            </a:r>
            <a:r>
              <a:rPr lang="en-US" sz="2400" dirty="0"/>
              <a:t> presenting conclusions about root causes.</a:t>
            </a:r>
          </a:p>
          <a:p>
            <a:r>
              <a:rPr lang="en-US" sz="2400" dirty="0"/>
              <a:t>Why? Because the authors currently lack critical data about the grid’s operational conditions on April 28;  for example, details about generators that were online but operating below rated power capacity.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914A79-B38B-912E-34C7-DAEB78516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Disclaimers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AEEC86-A400-1895-7E25-9CAAEFEBA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300153-D3A0-EBDD-CBD0-CF0DCCC2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2</a:t>
            </a:fld>
            <a:endParaRPr lang="es-ES" altLang="es-E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E432E122-B67A-A98F-6916-D0B989B47D8C}"/>
              </a:ext>
            </a:extLst>
          </p:cNvPr>
          <p:cNvSpPr txBox="1">
            <a:spLocks/>
          </p:cNvSpPr>
          <p:nvPr/>
        </p:nvSpPr>
        <p:spPr bwMode="auto">
          <a:xfrm>
            <a:off x="8031192" y="1073645"/>
            <a:ext cx="3866074" cy="5171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bin Regular" pitchFamily="2" charset="77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sz="2400" dirty="0"/>
              <a:t>*Report Authors</a:t>
            </a:r>
            <a:endParaRPr lang="en-US" sz="2000" dirty="0"/>
          </a:p>
          <a:p>
            <a:pPr eaLnBrk="1" hangingPunct="1"/>
            <a:r>
              <a:rPr lang="en-US" sz="2000" dirty="0"/>
              <a:t>Lead Author:</a:t>
            </a:r>
          </a:p>
          <a:p>
            <a:pPr lvl="1" eaLnBrk="1" hangingPunct="1"/>
            <a:r>
              <a:rPr lang="en-US" sz="1600" dirty="0"/>
              <a:t>Bryan Murray, P.E. – PhD Candidate</a:t>
            </a:r>
          </a:p>
          <a:p>
            <a:pPr lvl="2" eaLnBrk="1" hangingPunct="1"/>
            <a:r>
              <a:rPr lang="en-US" sz="1200" dirty="0"/>
              <a:t>uo292264@uniovi.es</a:t>
            </a:r>
          </a:p>
          <a:p>
            <a:pPr eaLnBrk="1" hangingPunct="1"/>
            <a:endParaRPr lang="en-US" sz="2000" dirty="0"/>
          </a:p>
          <a:p>
            <a:pPr eaLnBrk="1" hangingPunct="1"/>
            <a:r>
              <a:rPr lang="en-US" sz="2000" dirty="0"/>
              <a:t>Reviewer:</a:t>
            </a:r>
          </a:p>
          <a:p>
            <a:pPr lvl="1" eaLnBrk="1" hangingPunct="1"/>
            <a:r>
              <a:rPr lang="en-US" sz="1600" dirty="0"/>
              <a:t>Prof. Pablo García Fernández</a:t>
            </a:r>
          </a:p>
          <a:p>
            <a:pPr lvl="2" eaLnBrk="1" hangingPunct="1"/>
            <a:r>
              <a:rPr lang="en-US" sz="1200" dirty="0"/>
              <a:t>garciafpablo@uniovi.es</a:t>
            </a:r>
          </a:p>
        </p:txBody>
      </p:sp>
    </p:spTree>
    <p:extLst>
      <p:ext uri="{BB962C8B-B14F-4D97-AF65-F5344CB8AC3E}">
        <p14:creationId xmlns:p14="http://schemas.microsoft.com/office/powerpoint/2010/main" val="2135943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elogramo 6">
            <a:extLst>
              <a:ext uri="{FF2B5EF4-FFF2-40B4-BE49-F238E27FC236}">
                <a16:creationId xmlns:a16="http://schemas.microsoft.com/office/drawing/2014/main" id="{7CD27447-938C-1D4F-A13E-A918049DBB33}"/>
              </a:ext>
            </a:extLst>
          </p:cNvPr>
          <p:cNvSpPr/>
          <p:nvPr/>
        </p:nvSpPr>
        <p:spPr>
          <a:xfrm flipH="1">
            <a:off x="0" y="0"/>
            <a:ext cx="5527675" cy="6858000"/>
          </a:xfrm>
          <a:prstGeom prst="parallelogram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881A538-4502-C849-B5EB-B2587772E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5AE09BB-B6BF-466C-9F64-2188A5A41A10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3</a:t>
            </a:fld>
            <a:endParaRPr lang="es-ES" altLang="es-ES" dirty="0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C8F31B9-0A67-1345-A83E-1E4677B7B375}"/>
              </a:ext>
            </a:extLst>
          </p:cNvPr>
          <p:cNvSpPr txBox="1"/>
          <p:nvPr/>
        </p:nvSpPr>
        <p:spPr>
          <a:xfrm>
            <a:off x="2252663" y="2787650"/>
            <a:ext cx="9939337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Overview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 </a:t>
            </a: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of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 April 28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latin typeface="Cabin Regular" pitchFamily="2" charset="77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0AD965B-A7F3-D647-9ED4-6B326F5F609D}"/>
              </a:ext>
            </a:extLst>
          </p:cNvPr>
          <p:cNvSpPr/>
          <p:nvPr/>
        </p:nvSpPr>
        <p:spPr>
          <a:xfrm flipV="1">
            <a:off x="8097838" y="3527425"/>
            <a:ext cx="1751012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54278" name="CuadroTexto 5">
            <a:extLst>
              <a:ext uri="{FF2B5EF4-FFF2-40B4-BE49-F238E27FC236}">
                <a16:creationId xmlns:a16="http://schemas.microsoft.com/office/drawing/2014/main" id="{661414BE-8727-3677-7614-7CDE9CB8E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2663" y="2308225"/>
            <a:ext cx="393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ES" b="1">
                <a:latin typeface="Open Sans" panose="020B0606030504020204" pitchFamily="34" charset="0"/>
                <a:cs typeface="Open Sans" panose="020B0606030504020204" pitchFamily="34" charset="0"/>
              </a:rPr>
              <a:t>Section</a:t>
            </a:r>
            <a:r>
              <a:rPr lang="es-ES" altLang="es-ES">
                <a:latin typeface="Cabin Regular" pitchFamily="2" charset="0"/>
              </a:rPr>
              <a:t> 1</a:t>
            </a:r>
          </a:p>
        </p:txBody>
      </p:sp>
      <p:pic>
        <p:nvPicPr>
          <p:cNvPr id="9" name="Imagen 5">
            <a:extLst>
              <a:ext uri="{FF2B5EF4-FFF2-40B4-BE49-F238E27FC236}">
                <a16:creationId xmlns:a16="http://schemas.microsoft.com/office/drawing/2014/main" id="{8D393AD2-965A-F706-94A3-89CB8C5E1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3015ED87-37B4-C416-8137-4D15C18F7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A7DED9-BA76-FE86-615C-EFDE8999B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E3DFD9-799F-CCD7-251D-15C026C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4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5C7D2A-0DFE-DC92-42A4-51209F303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57384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72A775-3D0E-CB36-FEAC-FD975E829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134" y="997735"/>
            <a:ext cx="6142666" cy="48625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2FA848-226F-5C08-87E0-9E26A269E583}"/>
              </a:ext>
            </a:extLst>
          </p:cNvPr>
          <p:cNvSpPr txBox="1"/>
          <p:nvPr/>
        </p:nvSpPr>
        <p:spPr>
          <a:xfrm>
            <a:off x="6964311" y="6554157"/>
            <a:ext cx="38274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Source: </a:t>
            </a:r>
            <a:r>
              <a:rPr lang="en-US" sz="800" dirty="0">
                <a:hlinkClick r:id="rId4"/>
              </a:rPr>
              <a:t>El Pais, “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4"/>
              </a:rPr>
              <a:t>¿Qué causó el apagón? </a:t>
            </a:r>
            <a:r>
              <a:rPr lang="en-US" sz="800" b="1" i="0" dirty="0" err="1">
                <a:solidFill>
                  <a:srgbClr val="111111"/>
                </a:solidFill>
                <a:effectLst/>
                <a:latin typeface="MajritTx"/>
                <a:hlinkClick r:id="rId4"/>
              </a:rPr>
              <a:t>Explicación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4"/>
              </a:rPr>
              <a:t> visual y breve de lo que </a:t>
            </a:r>
            <a:r>
              <a:rPr lang="en-US" sz="800" b="1" i="0" dirty="0" err="1">
                <a:solidFill>
                  <a:srgbClr val="111111"/>
                </a:solidFill>
                <a:effectLst/>
                <a:latin typeface="MajritTx"/>
                <a:hlinkClick r:id="rId4"/>
              </a:rPr>
              <a:t>sabemos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4"/>
              </a:rPr>
              <a:t>”</a:t>
            </a:r>
            <a:endParaRPr lang="en-US" sz="800" b="1" i="0" dirty="0">
              <a:solidFill>
                <a:srgbClr val="111111"/>
              </a:solidFill>
              <a:effectLst/>
              <a:latin typeface="MajritTx"/>
            </a:endParaRPr>
          </a:p>
        </p:txBody>
      </p:sp>
    </p:spTree>
    <p:extLst>
      <p:ext uri="{BB962C8B-B14F-4D97-AF65-F5344CB8AC3E}">
        <p14:creationId xmlns:p14="http://schemas.microsoft.com/office/powerpoint/2010/main" val="1230594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47EA7-84B9-1E90-8AB3-CCA34C700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B4803E4-DC4F-8AFF-F7FC-CF85705E2E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46978" y="1056112"/>
            <a:ext cx="10686182" cy="534309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836416A-BFAD-C507-0929-FE027927552E}"/>
              </a:ext>
            </a:extLst>
          </p:cNvPr>
          <p:cNvSpPr/>
          <p:nvPr/>
        </p:nvSpPr>
        <p:spPr>
          <a:xfrm>
            <a:off x="4039933" y="2593526"/>
            <a:ext cx="1008404" cy="982766"/>
          </a:xfrm>
          <a:prstGeom prst="rect">
            <a:avLst/>
          </a:prstGeom>
          <a:noFill/>
          <a:ln w="190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62EBE70-8D7F-A69D-A11A-9BAAD30B39BD}"/>
              </a:ext>
            </a:extLst>
          </p:cNvPr>
          <p:cNvCxnSpPr>
            <a:cxnSpLocks/>
          </p:cNvCxnSpPr>
          <p:nvPr/>
        </p:nvCxnSpPr>
        <p:spPr>
          <a:xfrm flipH="1" flipV="1">
            <a:off x="4544135" y="3570191"/>
            <a:ext cx="73352" cy="636551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9435682-5238-0021-60DA-58D2AA853051}"/>
              </a:ext>
            </a:extLst>
          </p:cNvPr>
          <p:cNvSpPr txBox="1"/>
          <p:nvPr/>
        </p:nvSpPr>
        <p:spPr>
          <a:xfrm>
            <a:off x="3446713" y="4190390"/>
            <a:ext cx="2268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Second Oscillations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8D530B-F014-897C-84EC-F790B2E1A6F5}"/>
              </a:ext>
            </a:extLst>
          </p:cNvPr>
          <p:cNvCxnSpPr>
            <a:cxnSpLocks/>
          </p:cNvCxnSpPr>
          <p:nvPr/>
        </p:nvCxnSpPr>
        <p:spPr>
          <a:xfrm flipH="1">
            <a:off x="2879575" y="2343453"/>
            <a:ext cx="73353" cy="351560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3F07865-0B61-1F6C-E585-BCAE6330F65A}"/>
              </a:ext>
            </a:extLst>
          </p:cNvPr>
          <p:cNvSpPr txBox="1"/>
          <p:nvPr/>
        </p:nvSpPr>
        <p:spPr>
          <a:xfrm>
            <a:off x="2064165" y="1981577"/>
            <a:ext cx="1777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First Oscillations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92EDA2-F49D-0A2C-F2AB-D3F7DEDC2EA8}"/>
              </a:ext>
            </a:extLst>
          </p:cNvPr>
          <p:cNvSpPr/>
          <p:nvPr/>
        </p:nvSpPr>
        <p:spPr>
          <a:xfrm>
            <a:off x="2248257" y="2720696"/>
            <a:ext cx="1409343" cy="518069"/>
          </a:xfrm>
          <a:prstGeom prst="rect">
            <a:avLst/>
          </a:prstGeom>
          <a:noFill/>
          <a:ln w="190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4FCB50-8DA2-1BCD-DA2F-1CCBF3EDF063}"/>
              </a:ext>
            </a:extLst>
          </p:cNvPr>
          <p:cNvSpPr/>
          <p:nvPr/>
        </p:nvSpPr>
        <p:spPr>
          <a:xfrm>
            <a:off x="7093507" y="2862207"/>
            <a:ext cx="458628" cy="508101"/>
          </a:xfrm>
          <a:prstGeom prst="rect">
            <a:avLst/>
          </a:prstGeo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3D733D-8E6C-2A6C-D4B2-7666D58A926F}"/>
              </a:ext>
            </a:extLst>
          </p:cNvPr>
          <p:cNvSpPr txBox="1"/>
          <p:nvPr/>
        </p:nvSpPr>
        <p:spPr>
          <a:xfrm>
            <a:off x="6434058" y="2210499"/>
            <a:ext cx="1777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DFD </a:t>
            </a:r>
          </a:p>
          <a:p>
            <a:pPr algn="ctr"/>
            <a:r>
              <a:rPr lang="en-US" dirty="0"/>
              <a:t>(Market Interval)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25B244-E489-55FA-96F5-78F962ED0D00}"/>
              </a:ext>
            </a:extLst>
          </p:cNvPr>
          <p:cNvSpPr txBox="1"/>
          <p:nvPr/>
        </p:nvSpPr>
        <p:spPr>
          <a:xfrm>
            <a:off x="3603332" y="4602503"/>
            <a:ext cx="1946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C28"/>
                </a:solidFill>
              </a:rPr>
              <a:t>Suspicious Events</a:t>
            </a:r>
          </a:p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Normal Events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AB5C14-FF75-0F0F-8041-AA17A4E77C68}"/>
              </a:ext>
            </a:extLst>
          </p:cNvPr>
          <p:cNvSpPr/>
          <p:nvPr/>
        </p:nvSpPr>
        <p:spPr>
          <a:xfrm>
            <a:off x="8133715" y="2937617"/>
            <a:ext cx="241419" cy="982766"/>
          </a:xfrm>
          <a:prstGeom prst="rect">
            <a:avLst/>
          </a:prstGeom>
          <a:noFill/>
          <a:ln w="190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DBA53A9-3797-FE6F-7D8D-1E1E096F504F}"/>
              </a:ext>
            </a:extLst>
          </p:cNvPr>
          <p:cNvCxnSpPr>
            <a:cxnSpLocks/>
          </p:cNvCxnSpPr>
          <p:nvPr/>
        </p:nvCxnSpPr>
        <p:spPr>
          <a:xfrm flipV="1">
            <a:off x="7393118" y="3578658"/>
            <a:ext cx="646226" cy="774849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4C972FE-3666-2B5B-9211-C7B48B6979D7}"/>
              </a:ext>
            </a:extLst>
          </p:cNvPr>
          <p:cNvSpPr txBox="1"/>
          <p:nvPr/>
        </p:nvSpPr>
        <p:spPr>
          <a:xfrm>
            <a:off x="6350389" y="4385432"/>
            <a:ext cx="1777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Iberian Separation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BA711A-C068-1748-0490-4BB22DB931CC}"/>
              </a:ext>
            </a:extLst>
          </p:cNvPr>
          <p:cNvCxnSpPr>
            <a:cxnSpLocks/>
          </p:cNvCxnSpPr>
          <p:nvPr/>
        </p:nvCxnSpPr>
        <p:spPr>
          <a:xfrm flipV="1">
            <a:off x="10394120" y="3477556"/>
            <a:ext cx="58904" cy="1124947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049A227-0B16-0E36-3D2A-41075A172D6A}"/>
              </a:ext>
            </a:extLst>
          </p:cNvPr>
          <p:cNvSpPr txBox="1"/>
          <p:nvPr/>
        </p:nvSpPr>
        <p:spPr>
          <a:xfrm>
            <a:off x="9503208" y="4654615"/>
            <a:ext cx="1777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Europe Recovers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23A385-29E4-73EA-14A5-38EB61FDA07E}"/>
              </a:ext>
            </a:extLst>
          </p:cNvPr>
          <p:cNvSpPr/>
          <p:nvPr/>
        </p:nvSpPr>
        <p:spPr>
          <a:xfrm rot="4861384">
            <a:off x="10140334" y="1653218"/>
            <a:ext cx="503274" cy="3158868"/>
          </a:xfrm>
          <a:prstGeom prst="rect">
            <a:avLst/>
          </a:prstGeom>
          <a:noFill/>
          <a:ln w="190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D43BF6-8C82-F874-D783-C918CEECD2BD}"/>
              </a:ext>
            </a:extLst>
          </p:cNvPr>
          <p:cNvSpPr/>
          <p:nvPr/>
        </p:nvSpPr>
        <p:spPr>
          <a:xfrm>
            <a:off x="2599396" y="2774222"/>
            <a:ext cx="201816" cy="411018"/>
          </a:xfrm>
          <a:prstGeom prst="rect">
            <a:avLst/>
          </a:prstGeo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C56CA1-7C8D-3D66-5F0B-E2B0E6C67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Overview of European grid Frequencies just before the Blackout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E5F308-BD02-EF0E-B8C7-9A069260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88FE5-7960-B8AB-1806-980CAE566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5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022803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A9E7F-AEC4-BEB6-A5E1-0D4D6A4F9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Oscillations hint at Instability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0354A6-20BB-6E51-6DDD-EFA2E4FF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1F06E-EA95-85A9-A277-4C9BFBD08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6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83A286-5D89-3C01-4EAD-1C5B16A19F68}"/>
              </a:ext>
            </a:extLst>
          </p:cNvPr>
          <p:cNvPicPr/>
          <p:nvPr/>
        </p:nvPicPr>
        <p:blipFill>
          <a:blip r:embed="rId2"/>
          <a:srcRect/>
          <a:stretch/>
        </p:blipFill>
        <p:spPr>
          <a:xfrm>
            <a:off x="1430754" y="1043298"/>
            <a:ext cx="10293408" cy="514670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3C2B60D-A0E4-A354-1D65-CFB07FBD0340}"/>
              </a:ext>
            </a:extLst>
          </p:cNvPr>
          <p:cNvSpPr/>
          <p:nvPr/>
        </p:nvSpPr>
        <p:spPr>
          <a:xfrm>
            <a:off x="2333002" y="3717420"/>
            <a:ext cx="2743200" cy="786213"/>
          </a:xfrm>
          <a:prstGeom prst="rect">
            <a:avLst/>
          </a:prstGeom>
          <a:noFill/>
          <a:ln w="190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ADECE0-E554-84B2-49AC-3C99F691945E}"/>
              </a:ext>
            </a:extLst>
          </p:cNvPr>
          <p:cNvSpPr/>
          <p:nvPr/>
        </p:nvSpPr>
        <p:spPr>
          <a:xfrm>
            <a:off x="8219630" y="3616650"/>
            <a:ext cx="3134170" cy="1057900"/>
          </a:xfrm>
          <a:prstGeom prst="rect">
            <a:avLst/>
          </a:prstGeom>
          <a:noFill/>
          <a:ln w="190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00AD96-9A29-ACB4-0089-E058FF465BAA}"/>
              </a:ext>
            </a:extLst>
          </p:cNvPr>
          <p:cNvSpPr txBox="1"/>
          <p:nvPr/>
        </p:nvSpPr>
        <p:spPr>
          <a:xfrm>
            <a:off x="2333002" y="2664750"/>
            <a:ext cx="4637465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From at least 12:13pm we see notable frequency oscillations in the Iberian grid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72433A-DC13-4972-843C-18E6D8DFC4FA}"/>
              </a:ext>
            </a:extLst>
          </p:cNvPr>
          <p:cNvSpPr txBox="1"/>
          <p:nvPr/>
        </p:nvSpPr>
        <p:spPr>
          <a:xfrm>
            <a:off x="8610600" y="2825915"/>
            <a:ext cx="3421799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Oscillation amplitudes increasing just minutes later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06736E-3523-6EF0-05F4-86C753F64B3B}"/>
              </a:ext>
            </a:extLst>
          </p:cNvPr>
          <p:cNvSpPr txBox="1"/>
          <p:nvPr/>
        </p:nvSpPr>
        <p:spPr>
          <a:xfrm>
            <a:off x="5324029" y="4701799"/>
            <a:ext cx="2136450" cy="646331"/>
          </a:xfrm>
          <a:prstGeom prst="rect">
            <a:avLst/>
          </a:prstGeom>
          <a:solidFill>
            <a:srgbClr val="E9E9E9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Minor disturbance in Croatia was properly damped and faded in &lt;5 sec. We’ll ignore it.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CBEDD8-C188-3B20-515C-471B61625942}"/>
              </a:ext>
            </a:extLst>
          </p:cNvPr>
          <p:cNvSpPr/>
          <p:nvPr/>
        </p:nvSpPr>
        <p:spPr>
          <a:xfrm>
            <a:off x="5324029" y="3369865"/>
            <a:ext cx="213645" cy="1247512"/>
          </a:xfrm>
          <a:prstGeom prst="rect">
            <a:avLst/>
          </a:prstGeo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640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3A08-4ACF-3AD4-AEBB-202404817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Oscillations Worsen Rapidly ~ 12:20pm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5E22F1-4525-28D7-95F0-0900BF819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1DC2D0-0324-E83E-C9BD-C62EE5A48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7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E1046D-A570-F29B-48AA-BD47903871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1857" y="962478"/>
            <a:ext cx="10787742" cy="53938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93E86B-FDE6-C09E-7B50-98BC4E71880D}"/>
              </a:ext>
            </a:extLst>
          </p:cNvPr>
          <p:cNvSpPr txBox="1"/>
          <p:nvPr/>
        </p:nvSpPr>
        <p:spPr>
          <a:xfrm>
            <a:off x="2187723" y="2120341"/>
            <a:ext cx="3298677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Undamped frequencies oscillations rapidly worsen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507D82-753A-9691-CACE-40FFF919DE60}"/>
              </a:ext>
            </a:extLst>
          </p:cNvPr>
          <p:cNvSpPr txBox="1"/>
          <p:nvPr/>
        </p:nvSpPr>
        <p:spPr>
          <a:xfrm>
            <a:off x="8379863" y="1790766"/>
            <a:ext cx="3421799" cy="369332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Note 180° phase shift</a:t>
            </a:r>
          </a:p>
        </p:txBody>
      </p:sp>
    </p:spTree>
    <p:extLst>
      <p:ext uri="{BB962C8B-B14F-4D97-AF65-F5344CB8AC3E}">
        <p14:creationId xmlns:p14="http://schemas.microsoft.com/office/powerpoint/2010/main" val="1476529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31AC5-D52F-6402-032C-992D4947E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Observing Spurious Oscillations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32159-4BFF-9DF6-257D-37A95B3DD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68AE71-5559-F7D3-112A-77E7401D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8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881F5B-E4B5-30B3-7D0C-5C96047670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49" b="2949"/>
          <a:stretch/>
        </p:blipFill>
        <p:spPr>
          <a:xfrm>
            <a:off x="2038526" y="850437"/>
            <a:ext cx="8682604" cy="58360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7899BBF-587A-5A98-3CAD-D0A570FE1E7E}"/>
              </a:ext>
            </a:extLst>
          </p:cNvPr>
          <p:cNvSpPr/>
          <p:nvPr/>
        </p:nvSpPr>
        <p:spPr>
          <a:xfrm>
            <a:off x="4981969" y="1501630"/>
            <a:ext cx="981512" cy="3514986"/>
          </a:xfrm>
          <a:prstGeom prst="rect">
            <a:avLst/>
          </a:prstGeom>
          <a:noFill/>
          <a:ln w="3810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294935-4DDD-FD62-0C7B-842E39E48CEB}"/>
              </a:ext>
            </a:extLst>
          </p:cNvPr>
          <p:cNvSpPr txBox="1"/>
          <p:nvPr/>
        </p:nvSpPr>
        <p:spPr>
          <a:xfrm>
            <a:off x="6009980" y="2393230"/>
            <a:ext cx="2896944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Oscillations ~0.23 Hz (4.3 seconds)</a:t>
            </a:r>
          </a:p>
        </p:txBody>
      </p:sp>
      <p:pic>
        <p:nvPicPr>
          <p:cNvPr id="3" name="Imagen 5">
            <a:extLst>
              <a:ext uri="{FF2B5EF4-FFF2-40B4-BE49-F238E27FC236}">
                <a16:creationId xmlns:a16="http://schemas.microsoft.com/office/drawing/2014/main" id="{711D9197-717C-3E22-F419-460DE9EC2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327" y="1428449"/>
            <a:ext cx="429973" cy="385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0261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C17F1-086B-DB2C-A2E9-4012B09CE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Change at 12:30pm – No Problem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BF6DFC-94A7-D345-AC30-41570B971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33D4C0-2507-99AB-D550-919348C40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9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9CA80C-A596-D424-6899-CB96FF1EB2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74840" y="1061718"/>
            <a:ext cx="10436160" cy="5218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6327A1-E33F-1F32-D814-0B6F12264B03}"/>
              </a:ext>
            </a:extLst>
          </p:cNvPr>
          <p:cNvSpPr txBox="1"/>
          <p:nvPr/>
        </p:nvSpPr>
        <p:spPr>
          <a:xfrm>
            <a:off x="2459001" y="1735404"/>
            <a:ext cx="5334764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15-minute electricity market means many generators change their power setpoints at 12:30pm.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ABE6A6-B2C8-080E-9241-EFB8A7C6FDE7}"/>
              </a:ext>
            </a:extLst>
          </p:cNvPr>
          <p:cNvSpPr txBox="1"/>
          <p:nvPr/>
        </p:nvSpPr>
        <p:spPr>
          <a:xfrm>
            <a:off x="8533728" y="1854876"/>
            <a:ext cx="2896944" cy="1815882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The resulting change in steady-state frequency is called a “Deterministic Frequency Deviation”. These are an undesirable but expected and manageable aspect of large electricity markets.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D1A2D1-92C8-6A5E-2F00-7B3CD5E1F2BA}"/>
              </a:ext>
            </a:extLst>
          </p:cNvPr>
          <p:cNvSpPr/>
          <p:nvPr/>
        </p:nvSpPr>
        <p:spPr>
          <a:xfrm>
            <a:off x="5289847" y="2489672"/>
            <a:ext cx="3090016" cy="2518163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04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D72E367A-8233-3026-5777-1C68A668A1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/>
          <a:stretch/>
        </p:blipFill>
        <p:spPr>
          <a:xfrm>
            <a:off x="1097236" y="979958"/>
            <a:ext cx="10942364" cy="54711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09F06D-3915-1B91-0E56-12870772C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Disconnections and Separation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D96C00-E1DE-C4A8-DA2F-D59EDB535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8A25E-BE20-9019-AAAB-457652A6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10</a:t>
            </a:fld>
            <a:endParaRPr lang="es-ES" altLang="es-E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9ED9CD-7FA6-E554-C43F-BD0CAA7D14F0}"/>
              </a:ext>
            </a:extLst>
          </p:cNvPr>
          <p:cNvSpPr txBox="1">
            <a:spLocks/>
          </p:cNvSpPr>
          <p:nvPr/>
        </p:nvSpPr>
        <p:spPr>
          <a:xfrm>
            <a:off x="1882142" y="2598606"/>
            <a:ext cx="2390861" cy="92333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Event 1</a:t>
            </a: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(</a:t>
            </a:r>
            <a:r>
              <a:rPr lang="en-US" dirty="0"/>
              <a:t>12:32:57.14): </a:t>
            </a:r>
          </a:p>
          <a:p>
            <a:pPr algn="ctr"/>
            <a:r>
              <a:rPr lang="en-US" dirty="0"/>
              <a:t>355MW disconnection </a:t>
            </a:r>
          </a:p>
          <a:p>
            <a:pPr algn="ctr"/>
            <a:r>
              <a:rPr lang="en-US" dirty="0"/>
              <a:t> near Granada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FCE2C8-5E67-08BC-5663-70180BA57B6B}"/>
              </a:ext>
            </a:extLst>
          </p:cNvPr>
          <p:cNvSpPr txBox="1">
            <a:spLocks/>
          </p:cNvSpPr>
          <p:nvPr/>
        </p:nvSpPr>
        <p:spPr>
          <a:xfrm>
            <a:off x="5480328" y="2867776"/>
            <a:ext cx="2353654" cy="92333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Event 2 </a:t>
            </a:r>
            <a:r>
              <a:rPr lang="en-US" dirty="0"/>
              <a:t>(12:33:16.46): </a:t>
            </a:r>
          </a:p>
          <a:p>
            <a:pPr algn="ctr"/>
            <a:r>
              <a:rPr lang="en-US" dirty="0"/>
              <a:t>730MW disconnection </a:t>
            </a:r>
            <a:br>
              <a:rPr lang="en-US" dirty="0"/>
            </a:br>
            <a:r>
              <a:rPr lang="en-US" dirty="0"/>
              <a:t>near Badajoz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B371B99-30AC-C8FB-4412-C81C844F47F0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7833982" y="2791102"/>
            <a:ext cx="869882" cy="538339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F728C36-E74A-71D7-FF0D-75F12B6716B4}"/>
              </a:ext>
            </a:extLst>
          </p:cNvPr>
          <p:cNvSpPr txBox="1">
            <a:spLocks/>
          </p:cNvSpPr>
          <p:nvPr/>
        </p:nvSpPr>
        <p:spPr>
          <a:xfrm>
            <a:off x="9558495" y="1901191"/>
            <a:ext cx="2170552" cy="52322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Rest of Europe actives FCR and stabilizes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18C1EE-5B14-954B-3DCF-829A6EF845D4}"/>
              </a:ext>
            </a:extLst>
          </p:cNvPr>
          <p:cNvSpPr txBox="1">
            <a:spLocks/>
          </p:cNvSpPr>
          <p:nvPr/>
        </p:nvSpPr>
        <p:spPr>
          <a:xfrm>
            <a:off x="4486542" y="5333485"/>
            <a:ext cx="4217322" cy="338554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Loss of synchronism with France @ </a:t>
            </a:r>
            <a:r>
              <a:rPr lang="en-US" sz="1600" dirty="0">
                <a:solidFill>
                  <a:srgbClr val="C00000"/>
                </a:solidFill>
              </a:rPr>
              <a:t>~12:33:19.62</a:t>
            </a:r>
            <a:endParaRPr lang="en-US" sz="16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C6175BA-68C4-D1E8-4854-7F7983A22C89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8703864" y="5502762"/>
            <a:ext cx="683417" cy="169277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8106FAE-24E3-76F9-ED84-E070CB0D019D}"/>
              </a:ext>
            </a:extLst>
          </p:cNvPr>
          <p:cNvSpPr txBox="1"/>
          <p:nvPr/>
        </p:nvSpPr>
        <p:spPr>
          <a:xfrm>
            <a:off x="36563" y="6498987"/>
            <a:ext cx="5030387" cy="338554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800" dirty="0"/>
              <a:t>Timeline relabeled to match “</a:t>
            </a:r>
            <a:r>
              <a:rPr lang="en-US" sz="800" dirty="0">
                <a:hlinkClick r:id="rId4"/>
              </a:rPr>
              <a:t>Versión no confidencial del informe del comité para el análisis de las circunstancias que concurrieron en la crisis de electricidad del 28 April 2025</a:t>
            </a:r>
            <a:r>
              <a:rPr lang="en-US" sz="800" dirty="0"/>
              <a:t>”, </a:t>
            </a:r>
            <a:r>
              <a:rPr lang="en-US" sz="800" dirty="0" err="1"/>
              <a:t>Gobierno</a:t>
            </a:r>
            <a:r>
              <a:rPr lang="en-US" sz="800" dirty="0"/>
              <a:t> de España, June 17 2025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897B6C-5533-6928-B34F-AFEC4DCA4626}"/>
              </a:ext>
            </a:extLst>
          </p:cNvPr>
          <p:cNvSpPr txBox="1">
            <a:spLocks/>
          </p:cNvSpPr>
          <p:nvPr/>
        </p:nvSpPr>
        <p:spPr>
          <a:xfrm>
            <a:off x="6098098" y="3870052"/>
            <a:ext cx="2353654" cy="92333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Event 3 </a:t>
            </a:r>
            <a:r>
              <a:rPr lang="en-US" dirty="0"/>
              <a:t>(12:33:17.78): </a:t>
            </a:r>
          </a:p>
          <a:p>
            <a:pPr algn="ctr"/>
            <a:r>
              <a:rPr lang="en-US" dirty="0"/>
              <a:t>550MW disconnection </a:t>
            </a:r>
            <a:br>
              <a:rPr lang="en-US" dirty="0"/>
            </a:br>
            <a:r>
              <a:rPr lang="en-US" dirty="0"/>
              <a:t>near Sevilla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F6332C2-EA27-5020-AB90-2A7B62D1AB6C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8451752" y="3567930"/>
            <a:ext cx="551733" cy="763787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C2235A7-0FEA-D1ED-F202-7FC261059D0C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4273003" y="2424411"/>
            <a:ext cx="337443" cy="635860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100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649B8-6339-116F-B5DB-E4BF4A093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is consistently to fast all morning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1E6B4B-F378-32C5-4486-9CE493283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9E6D3-7FD0-FBA7-AFA6-3B341A25D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11</a:t>
            </a:fld>
            <a:endParaRPr lang="es-ES" altLang="es-ES"/>
          </a:p>
        </p:txBody>
      </p:sp>
      <p:pic>
        <p:nvPicPr>
          <p:cNvPr id="6" name="Picture 5" descr="A graph showing a line&#10;&#10;AI-generated content may be incorrect.">
            <a:extLst>
              <a:ext uri="{FF2B5EF4-FFF2-40B4-BE49-F238E27FC236}">
                <a16:creationId xmlns:a16="http://schemas.microsoft.com/office/drawing/2014/main" id="{86AAA95E-7D85-27BC-6FFA-C1618F144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332" y="975436"/>
            <a:ext cx="10761828" cy="53809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62947E-E7F7-8B8F-304F-4AB5043369FC}"/>
              </a:ext>
            </a:extLst>
          </p:cNvPr>
          <p:cNvSpPr txBox="1"/>
          <p:nvPr/>
        </p:nvSpPr>
        <p:spPr>
          <a:xfrm>
            <a:off x="2375406" y="2788279"/>
            <a:ext cx="956345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frequency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FE291D8-AC05-2EAD-176B-8C560697BB56}"/>
              </a:ext>
            </a:extLst>
          </p:cNvPr>
          <p:cNvCxnSpPr/>
          <p:nvPr/>
        </p:nvCxnSpPr>
        <p:spPr>
          <a:xfrm flipV="1">
            <a:off x="2567031" y="3338818"/>
            <a:ext cx="956345" cy="478173"/>
          </a:xfrm>
          <a:prstGeom prst="straightConnector1">
            <a:avLst/>
          </a:prstGeom>
          <a:ln w="28575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8F2BD73-9B24-F55F-22B7-154EDFF96E45}"/>
              </a:ext>
            </a:extLst>
          </p:cNvPr>
          <p:cNvCxnSpPr>
            <a:cxnSpLocks/>
          </p:cNvCxnSpPr>
          <p:nvPr/>
        </p:nvCxnSpPr>
        <p:spPr>
          <a:xfrm flipV="1">
            <a:off x="3784394" y="3429000"/>
            <a:ext cx="1131555" cy="387991"/>
          </a:xfrm>
          <a:prstGeom prst="straightConnector1">
            <a:avLst/>
          </a:prstGeom>
          <a:ln w="28575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4658001-D052-B158-ED05-E90344F9CD8A}"/>
              </a:ext>
            </a:extLst>
          </p:cNvPr>
          <p:cNvCxnSpPr>
            <a:cxnSpLocks/>
          </p:cNvCxnSpPr>
          <p:nvPr/>
        </p:nvCxnSpPr>
        <p:spPr>
          <a:xfrm flipV="1">
            <a:off x="5337535" y="3321043"/>
            <a:ext cx="1131555" cy="387991"/>
          </a:xfrm>
          <a:prstGeom prst="straightConnector1">
            <a:avLst/>
          </a:prstGeom>
          <a:ln w="28575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D9AA1B7-8196-DEA8-7A71-9FCAAA355F12}"/>
              </a:ext>
            </a:extLst>
          </p:cNvPr>
          <p:cNvCxnSpPr>
            <a:cxnSpLocks/>
          </p:cNvCxnSpPr>
          <p:nvPr/>
        </p:nvCxnSpPr>
        <p:spPr>
          <a:xfrm flipV="1">
            <a:off x="6789051" y="3321043"/>
            <a:ext cx="1131555" cy="387991"/>
          </a:xfrm>
          <a:prstGeom prst="straightConnector1">
            <a:avLst/>
          </a:prstGeom>
          <a:ln w="28575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240BF30-BFF7-8AA3-2B2D-26EF8153B011}"/>
              </a:ext>
            </a:extLst>
          </p:cNvPr>
          <p:cNvCxnSpPr>
            <a:cxnSpLocks/>
          </p:cNvCxnSpPr>
          <p:nvPr/>
        </p:nvCxnSpPr>
        <p:spPr>
          <a:xfrm flipV="1">
            <a:off x="8283249" y="3314751"/>
            <a:ext cx="1131555" cy="387991"/>
          </a:xfrm>
          <a:prstGeom prst="straightConnector1">
            <a:avLst/>
          </a:prstGeom>
          <a:ln w="28575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A646B3-36AE-58F5-D297-D73365314975}"/>
              </a:ext>
            </a:extLst>
          </p:cNvPr>
          <p:cNvCxnSpPr>
            <a:cxnSpLocks/>
          </p:cNvCxnSpPr>
          <p:nvPr/>
        </p:nvCxnSpPr>
        <p:spPr>
          <a:xfrm flipV="1">
            <a:off x="9982200" y="3153407"/>
            <a:ext cx="1131555" cy="387991"/>
          </a:xfrm>
          <a:prstGeom prst="straightConnector1">
            <a:avLst/>
          </a:prstGeom>
          <a:ln w="28575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6A44F2-5255-E729-DF53-EB23F02493A6}"/>
              </a:ext>
            </a:extLst>
          </p:cNvPr>
          <p:cNvSpPr txBox="1"/>
          <p:nvPr/>
        </p:nvSpPr>
        <p:spPr>
          <a:xfrm>
            <a:off x="3959604" y="2795085"/>
            <a:ext cx="956345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ascends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CBB426-F0E7-6608-431B-0ACE6A9AED09}"/>
              </a:ext>
            </a:extLst>
          </p:cNvPr>
          <p:cNvSpPr txBox="1"/>
          <p:nvPr/>
        </p:nvSpPr>
        <p:spPr>
          <a:xfrm>
            <a:off x="5425139" y="2794443"/>
            <a:ext cx="956345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within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72A56B-884B-CB88-FE97-A17F3A8E5EC0}"/>
              </a:ext>
            </a:extLst>
          </p:cNvPr>
          <p:cNvSpPr txBox="1"/>
          <p:nvPr/>
        </p:nvSpPr>
        <p:spPr>
          <a:xfrm>
            <a:off x="8472920" y="2788281"/>
            <a:ext cx="956345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market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213724-6AD2-892E-B4C7-7C71F6ECB5F5}"/>
              </a:ext>
            </a:extLst>
          </p:cNvPr>
          <p:cNvSpPr txBox="1"/>
          <p:nvPr/>
        </p:nvSpPr>
        <p:spPr>
          <a:xfrm>
            <a:off x="10057118" y="2788282"/>
            <a:ext cx="956345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interval!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DD6BB3-689F-7757-80FE-210E152CBDB9}"/>
              </a:ext>
            </a:extLst>
          </p:cNvPr>
          <p:cNvSpPr txBox="1"/>
          <p:nvPr/>
        </p:nvSpPr>
        <p:spPr>
          <a:xfrm>
            <a:off x="6975050" y="2788280"/>
            <a:ext cx="956345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each</a:t>
            </a:r>
          </a:p>
        </p:txBody>
      </p:sp>
    </p:spTree>
    <p:extLst>
      <p:ext uri="{BB962C8B-B14F-4D97-AF65-F5344CB8AC3E}">
        <p14:creationId xmlns:p14="http://schemas.microsoft.com/office/powerpoint/2010/main" val="2401201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527B7-B1D5-0298-CCB2-AF3DBB000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elogramo 6">
            <a:extLst>
              <a:ext uri="{FF2B5EF4-FFF2-40B4-BE49-F238E27FC236}">
                <a16:creationId xmlns:a16="http://schemas.microsoft.com/office/drawing/2014/main" id="{F6545BFE-BB10-8421-40F3-000D4C50A5F6}"/>
              </a:ext>
            </a:extLst>
          </p:cNvPr>
          <p:cNvSpPr/>
          <p:nvPr/>
        </p:nvSpPr>
        <p:spPr>
          <a:xfrm flipH="1">
            <a:off x="0" y="0"/>
            <a:ext cx="5527675" cy="6858000"/>
          </a:xfrm>
          <a:prstGeom prst="parallelogram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9B32B6B-286D-B587-85B4-1FC507B9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5AE09BB-B6BF-466C-9F64-2188A5A41A10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12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3D53BAC-3FFA-7F26-0128-B8726748F888}"/>
              </a:ext>
            </a:extLst>
          </p:cNvPr>
          <p:cNvSpPr txBox="1"/>
          <p:nvPr/>
        </p:nvSpPr>
        <p:spPr>
          <a:xfrm>
            <a:off x="2252664" y="2787650"/>
            <a:ext cx="8778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Rate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 </a:t>
            </a: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of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 Change </a:t>
            </a: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of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 </a:t>
            </a: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Frequency</a:t>
            </a:r>
            <a:endParaRPr lang="es-ES" dirty="0">
              <a:latin typeface="Cabin Regular" pitchFamily="2" charset="77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68594E2-CA84-BB04-DF14-402D08E95ED9}"/>
              </a:ext>
            </a:extLst>
          </p:cNvPr>
          <p:cNvSpPr/>
          <p:nvPr/>
        </p:nvSpPr>
        <p:spPr>
          <a:xfrm flipV="1">
            <a:off x="8097838" y="3527425"/>
            <a:ext cx="1751012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54278" name="CuadroTexto 5">
            <a:extLst>
              <a:ext uri="{FF2B5EF4-FFF2-40B4-BE49-F238E27FC236}">
                <a16:creationId xmlns:a16="http://schemas.microsoft.com/office/drawing/2014/main" id="{8C66E389-97E8-D9A6-F827-56CF5DF95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2663" y="2308225"/>
            <a:ext cx="393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ES" b="1" dirty="0" err="1">
                <a:latin typeface="Open Sans" panose="020B0606030504020204" pitchFamily="34" charset="0"/>
                <a:cs typeface="Open Sans" panose="020B0606030504020204" pitchFamily="34" charset="0"/>
              </a:rPr>
              <a:t>Section</a:t>
            </a:r>
            <a:r>
              <a:rPr lang="es-ES" altLang="es-ES" dirty="0">
                <a:latin typeface="Cabin Regular" pitchFamily="2" charset="0"/>
              </a:rPr>
              <a:t> 2</a:t>
            </a:r>
          </a:p>
        </p:txBody>
      </p:sp>
      <p:pic>
        <p:nvPicPr>
          <p:cNvPr id="9" name="Imagen 5">
            <a:extLst>
              <a:ext uri="{FF2B5EF4-FFF2-40B4-BE49-F238E27FC236}">
                <a16:creationId xmlns:a16="http://schemas.microsoft.com/office/drawing/2014/main" id="{D017E832-6263-1272-99F7-8E9D1EEC5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23620B47-66DF-0D8A-C4ED-DE956A06B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4819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A13D3-2837-659F-3A58-29723E468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Rocof Overview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9A6161-37A5-6E82-D602-55A5BF75F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B73AD9-E630-D75C-FC49-A6802C682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13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D60566-0B2F-6EF9-299D-60339EECC7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71332" y="975436"/>
            <a:ext cx="10761828" cy="53809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7C0F36-40E4-9752-26F4-62C8B262037A}"/>
              </a:ext>
            </a:extLst>
          </p:cNvPr>
          <p:cNvSpPr txBox="1"/>
          <p:nvPr/>
        </p:nvSpPr>
        <p:spPr>
          <a:xfrm>
            <a:off x="6652246" y="4236328"/>
            <a:ext cx="3718447" cy="135421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ES_Malaga PMU data did not violate any of the entso-e RoCoF disconnection limits: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&gt; 1.25 Hz/s for 500ms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&gt; 1.5 Hz/s for 1s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&gt; 2 Hz/s for 2s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15B78E-3E9A-F84F-3FE9-A7420456B2A4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954179" y="2167117"/>
            <a:ext cx="499623" cy="588231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57DF58D-954B-9556-B16D-B5C64BF9E6DE}"/>
              </a:ext>
            </a:extLst>
          </p:cNvPr>
          <p:cNvSpPr txBox="1"/>
          <p:nvPr/>
        </p:nvSpPr>
        <p:spPr>
          <a:xfrm>
            <a:off x="3453802" y="1905507"/>
            <a:ext cx="1709000" cy="52322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Instantaneous RoCoF = +0.71 Hz/s</a:t>
            </a:r>
          </a:p>
        </p:txBody>
      </p:sp>
    </p:spTree>
    <p:extLst>
      <p:ext uri="{BB962C8B-B14F-4D97-AF65-F5344CB8AC3E}">
        <p14:creationId xmlns:p14="http://schemas.microsoft.com/office/powerpoint/2010/main" val="1924584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D46A3BC-79DA-E736-CFA5-050DB9ACB0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5410" y="1132514"/>
            <a:ext cx="10757042" cy="53785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0EEE18-99D1-4340-328D-2500A801E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Rocof stayed within limits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D87616-F68E-2705-D3A0-1CFDBD0FF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8D602B-4580-16A3-419B-EA77A252E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14</a:t>
            </a:fld>
            <a:endParaRPr lang="es-ES" altLang="es-E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B3B747-657D-B45C-16ED-FF6EE61E8298}"/>
              </a:ext>
            </a:extLst>
          </p:cNvPr>
          <p:cNvSpPr txBox="1">
            <a:spLocks/>
          </p:cNvSpPr>
          <p:nvPr/>
        </p:nvSpPr>
        <p:spPr>
          <a:xfrm>
            <a:off x="3255907" y="3964087"/>
            <a:ext cx="3718447" cy="135421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ES_Malaga PMU data* did not violate any of the entso-e RoCoF disconnection limits: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&gt; 1.25 Hz/s for 500ms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&gt; 1.5 Hz/s for 1s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&gt; 2 Hz/s for 2s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0BC8F84-8A72-BE6A-3FA6-D62D75BD1732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8837324" y="3778554"/>
            <a:ext cx="499623" cy="588231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A1F1083-C3EB-223C-9A09-334F86F18BBA}"/>
              </a:ext>
            </a:extLst>
          </p:cNvPr>
          <p:cNvSpPr txBox="1">
            <a:spLocks/>
          </p:cNvSpPr>
          <p:nvPr/>
        </p:nvSpPr>
        <p:spPr>
          <a:xfrm>
            <a:off x="9336947" y="3516944"/>
            <a:ext cx="1709000" cy="52322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Instantaneous RoCoF = -0.8 Hz/s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5FD6DF-0BB6-6B61-A2DA-61F2A6ABC6F5}"/>
              </a:ext>
            </a:extLst>
          </p:cNvPr>
          <p:cNvSpPr txBox="1">
            <a:spLocks/>
          </p:cNvSpPr>
          <p:nvPr/>
        </p:nvSpPr>
        <p:spPr>
          <a:xfrm>
            <a:off x="9333575" y="4334483"/>
            <a:ext cx="2016853" cy="1200329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*Physical RoCoF probably lower, but limited by the PMU recording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76AB73A-2701-72AE-4A9D-9D3187E03669}"/>
              </a:ext>
            </a:extLst>
          </p:cNvPr>
          <p:cNvCxnSpPr>
            <a:cxnSpLocks/>
          </p:cNvCxnSpPr>
          <p:nvPr/>
        </p:nvCxnSpPr>
        <p:spPr>
          <a:xfrm>
            <a:off x="8786280" y="4441576"/>
            <a:ext cx="547295" cy="583430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5F03BE1-CD81-4337-B118-5C5C9B81CAAC}"/>
              </a:ext>
            </a:extLst>
          </p:cNvPr>
          <p:cNvSpPr txBox="1"/>
          <p:nvPr/>
        </p:nvSpPr>
        <p:spPr>
          <a:xfrm>
            <a:off x="1075410" y="933847"/>
            <a:ext cx="4650556" cy="215444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800" dirty="0">
                <a:hlinkClick r:id="rId3"/>
              </a:rPr>
              <a:t>RoCoF limits from “Rate of Change of Frequency (RoCoF withstand capability”, entso-e, 31 January 2018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674387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927F9-89C0-C8E8-ED5B-2E13528DC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elogramo 6">
            <a:extLst>
              <a:ext uri="{FF2B5EF4-FFF2-40B4-BE49-F238E27FC236}">
                <a16:creationId xmlns:a16="http://schemas.microsoft.com/office/drawing/2014/main" id="{63600EFA-35C3-AA46-8392-98060F5FCDB5}"/>
              </a:ext>
            </a:extLst>
          </p:cNvPr>
          <p:cNvSpPr/>
          <p:nvPr/>
        </p:nvSpPr>
        <p:spPr>
          <a:xfrm flipH="1">
            <a:off x="0" y="0"/>
            <a:ext cx="5527675" cy="6858000"/>
          </a:xfrm>
          <a:prstGeom prst="parallelogram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9097A25-6CC8-D992-0075-03CCB712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5AE09BB-B6BF-466C-9F64-2188A5A41A10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15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19C6F3B-96C4-FDFC-EA8D-9A858CF86328}"/>
              </a:ext>
            </a:extLst>
          </p:cNvPr>
          <p:cNvSpPr txBox="1"/>
          <p:nvPr/>
        </p:nvSpPr>
        <p:spPr>
          <a:xfrm>
            <a:off x="2252664" y="2787650"/>
            <a:ext cx="8778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Generation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, </a:t>
            </a: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Inertia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, </a:t>
            </a: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Exports</a:t>
            </a:r>
            <a:endParaRPr lang="es-ES" dirty="0">
              <a:latin typeface="Cabin Regular" pitchFamily="2" charset="77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F1388E2-CCA9-21AB-A122-739DDD06480B}"/>
              </a:ext>
            </a:extLst>
          </p:cNvPr>
          <p:cNvSpPr/>
          <p:nvPr/>
        </p:nvSpPr>
        <p:spPr>
          <a:xfrm flipV="1">
            <a:off x="8097838" y="3527425"/>
            <a:ext cx="1751012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54278" name="CuadroTexto 5">
            <a:extLst>
              <a:ext uri="{FF2B5EF4-FFF2-40B4-BE49-F238E27FC236}">
                <a16:creationId xmlns:a16="http://schemas.microsoft.com/office/drawing/2014/main" id="{34716495-150E-0607-47D9-194626784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2663" y="2308225"/>
            <a:ext cx="393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ES" b="1" dirty="0" err="1">
                <a:latin typeface="Open Sans" panose="020B0606030504020204" pitchFamily="34" charset="0"/>
                <a:cs typeface="Open Sans" panose="020B0606030504020204" pitchFamily="34" charset="0"/>
              </a:rPr>
              <a:t>Section</a:t>
            </a:r>
            <a:r>
              <a:rPr lang="es-ES" altLang="es-ES" dirty="0">
                <a:latin typeface="Cabin Regular" pitchFamily="2" charset="0"/>
              </a:rPr>
              <a:t> 3</a:t>
            </a:r>
          </a:p>
        </p:txBody>
      </p:sp>
      <p:pic>
        <p:nvPicPr>
          <p:cNvPr id="9" name="Imagen 5">
            <a:extLst>
              <a:ext uri="{FF2B5EF4-FFF2-40B4-BE49-F238E27FC236}">
                <a16:creationId xmlns:a16="http://schemas.microsoft.com/office/drawing/2014/main" id="{0564D23D-6821-B13F-94E9-9C740E03B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6FC327FA-164F-F960-D24A-24D02A240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520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5F378-642C-6051-9EB8-E3AF20239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 MIX on April 28,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25334A-F59D-E452-CBDC-459A6BF2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55ED9E-C8EC-A11E-724E-AA4CC8C6C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16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56D452-DA0E-4973-BF3E-0424C93063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1857" y="965698"/>
            <a:ext cx="10781303" cy="53906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8C275D-464A-F5BC-0FEB-57C99BFCB951}"/>
              </a:ext>
            </a:extLst>
          </p:cNvPr>
          <p:cNvSpPr txBox="1"/>
          <p:nvPr/>
        </p:nvSpPr>
        <p:spPr>
          <a:xfrm>
            <a:off x="1271332" y="6358010"/>
            <a:ext cx="2869347" cy="276999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Source: ENTSO-E Transparency Platform</a:t>
            </a:r>
          </a:p>
        </p:txBody>
      </p:sp>
      <p:pic>
        <p:nvPicPr>
          <p:cNvPr id="3" name="Imagen 5">
            <a:extLst>
              <a:ext uri="{FF2B5EF4-FFF2-40B4-BE49-F238E27FC236}">
                <a16:creationId xmlns:a16="http://schemas.microsoft.com/office/drawing/2014/main" id="{F9EA3C32-D30A-DDEC-C465-6A3467305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0734" y="1670275"/>
            <a:ext cx="429973" cy="385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9058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F4994-2302-541C-D438-DBFE8A8D0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Inertia Estimation Methods – 1 of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4C3B93-8F50-9DAA-A789-9ADB73F34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917588-B5AE-3D7D-B99B-FA664AB65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17</a:t>
            </a:fld>
            <a:endParaRPr lang="es-ES" altLang="es-E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19F0CED-BA04-2573-F0A9-491B94DF9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856" y="910049"/>
            <a:ext cx="11668288" cy="5273738"/>
          </a:xfrm>
        </p:spPr>
        <p:txBody>
          <a:bodyPr/>
          <a:lstStyle/>
          <a:p>
            <a:r>
              <a:rPr lang="en-US" dirty="0"/>
              <a:t>Grid stability is a complex topic, but two very important factors are </a:t>
            </a:r>
            <a:r>
              <a:rPr lang="en-US" b="1" dirty="0"/>
              <a:t>controls</a:t>
            </a:r>
            <a:r>
              <a:rPr lang="en-US" dirty="0"/>
              <a:t> and </a:t>
            </a:r>
            <a:r>
              <a:rPr lang="en-US" b="1" dirty="0"/>
              <a:t>inertia</a:t>
            </a:r>
            <a:r>
              <a:rPr lang="en-US" dirty="0"/>
              <a:t>.</a:t>
            </a:r>
          </a:p>
          <a:p>
            <a:endParaRPr lang="en-US" sz="1600" dirty="0"/>
          </a:p>
          <a:p>
            <a:r>
              <a:rPr lang="en-US" sz="2400" b="1" dirty="0"/>
              <a:t>Controls: </a:t>
            </a:r>
            <a:r>
              <a:rPr lang="en-US" sz="2400" dirty="0"/>
              <a:t>Grid-Forming (GFM) controls allow inverter-based resources  (“IBR”, e.g. solar, wind, batteries) to positively contribute to grid stability, but these are less prevalent today, and historically most IBRs use grid-following (GFL) controls. New battery installations will greatly expand available GFM assets.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2400" b="1" dirty="0"/>
              <a:t>Inertia: </a:t>
            </a:r>
            <a:r>
              <a:rPr lang="en-US" sz="2400" dirty="0">
                <a:hlinkClick r:id="rId2"/>
              </a:rPr>
              <a:t>ENTSO-E ”Project Inertia”</a:t>
            </a:r>
            <a:r>
              <a:rPr lang="en-US" sz="2400" dirty="0"/>
              <a:t> has published basic methods for estimating kinetic inertia, which we utilize in the following slides. These estimates should be considered lower bounds because they do not include:</a:t>
            </a:r>
          </a:p>
          <a:p>
            <a:pPr lvl="1"/>
            <a:r>
              <a:rPr lang="en-US" dirty="0"/>
              <a:t>Non-generating inertia contributors (e.g. synchronous compensators)</a:t>
            </a:r>
          </a:p>
          <a:p>
            <a:pPr lvl="1"/>
            <a:r>
              <a:rPr lang="en-US" dirty="0"/>
              <a:t>Inertia from online plants operating below nominal capacity</a:t>
            </a:r>
          </a:p>
          <a:p>
            <a:pPr lvl="1"/>
            <a:r>
              <a:rPr lang="en-US" dirty="0"/>
              <a:t>Contributions from GFM-capable inverters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544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85AD4-A9A2-FAD3-9CE4-A24A3FF38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2F37D-B5AB-54DB-9790-2618E5B6C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Inertia Estimation Methods – 2 of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48C221-D55D-7F5A-0D0A-1DA109716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D50B45-8CE0-8609-7A05-0F0DDF561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18</a:t>
            </a:fld>
            <a:endParaRPr lang="es-ES" altLang="es-E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B41200-16BF-2F81-D6FB-94AC65D87A3E}"/>
              </a:ext>
            </a:extLst>
          </p:cNvPr>
          <p:cNvSpPr txBox="1"/>
          <p:nvPr/>
        </p:nvSpPr>
        <p:spPr>
          <a:xfrm>
            <a:off x="224287" y="6358010"/>
            <a:ext cx="5072332" cy="415498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Inertia estimates are based on standard inertial constants for different generation categories as published in </a:t>
            </a:r>
            <a:r>
              <a:rPr lang="en-US" sz="1000" dirty="0">
                <a:hlinkClick r:id="rId2"/>
              </a:rPr>
              <a:t>“Inertia and Rate of Change of Frequency (RoCoF)”, ENTSO-E, 16 Dec. 2020 </a:t>
            </a:r>
            <a:endParaRPr lang="en-US" sz="1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D5FE752-AE0B-3C34-F6FF-3DA2F3709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187" y="1147313"/>
            <a:ext cx="4114794" cy="5273738"/>
          </a:xfrm>
        </p:spPr>
        <p:txBody>
          <a:bodyPr/>
          <a:lstStyle/>
          <a:p>
            <a:r>
              <a:rPr lang="en-US" sz="2000" dirty="0"/>
              <a:t>The authors’ lower-bound estimates are based on the simplest data available: generation [MW] by resource type at 12:30pm on April 28, 2025.</a:t>
            </a:r>
          </a:p>
          <a:p>
            <a:endParaRPr lang="en-US" sz="2000" dirty="0"/>
          </a:p>
          <a:p>
            <a:r>
              <a:rPr lang="en-US" sz="2000" dirty="0"/>
              <a:t>Inertia estimates by resource type are simply the product of the that resource’s share of the generation mix [GW/GW] and the inertia constants [s] published by ENTSO-E.</a:t>
            </a:r>
          </a:p>
          <a:p>
            <a:pPr marL="0" indent="0">
              <a:buNone/>
            </a:pPr>
            <a:r>
              <a:rPr lang="en-US" sz="2000" dirty="0"/>
              <a:t> </a:t>
            </a:r>
          </a:p>
          <a:p>
            <a:r>
              <a:rPr lang="en-US" sz="2000" dirty="0"/>
              <a:t>Total equivalent inertia lower-bound estimates is simply the sum of these estimates.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D100AB-AA3C-AA3D-CB8B-B926338BA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369590"/>
              </p:ext>
            </p:extLst>
          </p:nvPr>
        </p:nvGraphicFramePr>
        <p:xfrm>
          <a:off x="4794606" y="1601789"/>
          <a:ext cx="6717588" cy="36939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6974">
                  <a:extLst>
                    <a:ext uri="{9D8B030D-6E8A-4147-A177-3AD203B41FA5}">
                      <a16:colId xmlns:a16="http://schemas.microsoft.com/office/drawing/2014/main" val="970722109"/>
                    </a:ext>
                  </a:extLst>
                </a:gridCol>
                <a:gridCol w="1282977">
                  <a:extLst>
                    <a:ext uri="{9D8B030D-6E8A-4147-A177-3AD203B41FA5}">
                      <a16:colId xmlns:a16="http://schemas.microsoft.com/office/drawing/2014/main" val="1406329708"/>
                    </a:ext>
                  </a:extLst>
                </a:gridCol>
                <a:gridCol w="975772">
                  <a:extLst>
                    <a:ext uri="{9D8B030D-6E8A-4147-A177-3AD203B41FA5}">
                      <a16:colId xmlns:a16="http://schemas.microsoft.com/office/drawing/2014/main" val="1736644714"/>
                    </a:ext>
                  </a:extLst>
                </a:gridCol>
                <a:gridCol w="972079">
                  <a:extLst>
                    <a:ext uri="{9D8B030D-6E8A-4147-A177-3AD203B41FA5}">
                      <a16:colId xmlns:a16="http://schemas.microsoft.com/office/drawing/2014/main" val="2224703659"/>
                    </a:ext>
                  </a:extLst>
                </a:gridCol>
                <a:gridCol w="1165558">
                  <a:extLst>
                    <a:ext uri="{9D8B030D-6E8A-4147-A177-3AD203B41FA5}">
                      <a16:colId xmlns:a16="http://schemas.microsoft.com/office/drawing/2014/main" val="3633106188"/>
                    </a:ext>
                  </a:extLst>
                </a:gridCol>
                <a:gridCol w="1004228">
                  <a:extLst>
                    <a:ext uri="{9D8B030D-6E8A-4147-A177-3AD203B41FA5}">
                      <a16:colId xmlns:a16="http://schemas.microsoft.com/office/drawing/2014/main" val="156122670"/>
                    </a:ext>
                  </a:extLst>
                </a:gridCol>
              </a:tblGrid>
              <a:tr h="2877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Generation Type</a:t>
                      </a: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u="none" strike="noStrike" dirty="0">
                          <a:effectLst/>
                        </a:rPr>
                        <a:t>Generation @ 12:30pm (MW)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u="none" strike="noStrike" dirty="0">
                          <a:effectLst/>
                        </a:rPr>
                        <a:t>H_eq (s)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u="none" strike="noStrike" dirty="0">
                          <a:effectLst/>
                        </a:rPr>
                        <a:t>Equivalent Inertia Floor (s)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u="none" strike="noStrike" dirty="0">
                          <a:effectLst/>
                        </a:rPr>
                        <a:t>Generation (%)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u="none" strike="noStrike" dirty="0">
                          <a:effectLst/>
                        </a:rPr>
                        <a:t>Inertia (%)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366825"/>
                  </a:ext>
                </a:extLst>
              </a:tr>
              <a:tr h="16818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>
                          <a:effectLst/>
                        </a:rPr>
                        <a:t>Solar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19340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59.8%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1255"/>
                  </a:ext>
                </a:extLst>
              </a:tr>
              <a:tr h="28775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>
                          <a:effectLst/>
                        </a:rPr>
                        <a:t>Wind Onshore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3416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10.6%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78633"/>
                  </a:ext>
                </a:extLst>
              </a:tr>
              <a:tr h="16818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>
                          <a:effectLst/>
                        </a:rPr>
                        <a:t>Nuclear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3384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0.62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10.5%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46.7%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618985"/>
                  </a:ext>
                </a:extLst>
              </a:tr>
              <a:tr h="16818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Fossil Gas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2216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0.29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6.9%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21.8%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413329"/>
                  </a:ext>
                </a:extLst>
              </a:tr>
              <a:tr h="42765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Hydro Water Reservoir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1952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3.7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0.22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6.0%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16.9%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4964722"/>
                  </a:ext>
                </a:extLst>
              </a:tr>
              <a:tr h="56755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Hydro Run-of-river and poundage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1184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2.7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3.7%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7.5%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010379"/>
                  </a:ext>
                </a:extLst>
              </a:tr>
              <a:tr h="16818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Biomass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1.1%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2.7%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28848"/>
                  </a:ext>
                </a:extLst>
              </a:tr>
              <a:tr h="28775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Fossil Hard coal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0.03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0.7%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2.2%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077122"/>
                  </a:ext>
                </a:extLst>
              </a:tr>
              <a:tr h="16818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Waste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0.5%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1.4%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7356142"/>
                  </a:ext>
                </a:extLst>
              </a:tr>
              <a:tr h="28775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Other renewable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0.5%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666768"/>
                  </a:ext>
                </a:extLst>
              </a:tr>
              <a:tr h="42765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>
                          <a:effectLst/>
                        </a:rPr>
                        <a:t>Hydro Pumped Storage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0.00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0.3%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444400"/>
                  </a:ext>
                </a:extLst>
              </a:tr>
              <a:tr h="16818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u="none" strike="noStrike" dirty="0">
                          <a:effectLst/>
                        </a:rPr>
                        <a:t>Total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32332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1.32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100.0%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100.0%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85815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81B1E0A-9083-1C84-1758-DD47EE050A55}"/>
              </a:ext>
            </a:extLst>
          </p:cNvPr>
          <p:cNvSpPr txBox="1"/>
          <p:nvPr/>
        </p:nvSpPr>
        <p:spPr>
          <a:xfrm>
            <a:off x="7621062" y="847260"/>
            <a:ext cx="24301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/>
              <a:t>Lower bound estimate!</a:t>
            </a:r>
            <a:endParaRPr lang="en-US" b="1" i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9188155-4E75-4771-2667-AE5CD89C7237}"/>
              </a:ext>
            </a:extLst>
          </p:cNvPr>
          <p:cNvCxnSpPr>
            <a:cxnSpLocks/>
          </p:cNvCxnSpPr>
          <p:nvPr/>
        </p:nvCxnSpPr>
        <p:spPr>
          <a:xfrm>
            <a:off x="8836137" y="1242204"/>
            <a:ext cx="0" cy="284672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6645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E01A9-B350-8630-8951-82031A5C5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21BBB013-F859-2107-9733-FB09AB0862B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910669" y="1001705"/>
            <a:ext cx="10721470" cy="53607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F17DE0-D7A3-9C4D-A66A-45F43B9DB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Inertia Estimates for April 28,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87134-2289-882C-7493-55627E298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A5A8F4-4F1D-8CD5-CF72-24A324346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19</a:t>
            </a:fld>
            <a:endParaRPr lang="es-ES" altLang="es-E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0581DF-0056-F77B-645A-57C2DF43B04A}"/>
              </a:ext>
            </a:extLst>
          </p:cNvPr>
          <p:cNvSpPr txBox="1"/>
          <p:nvPr/>
        </p:nvSpPr>
        <p:spPr>
          <a:xfrm>
            <a:off x="7280694" y="4184172"/>
            <a:ext cx="2430517" cy="92333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Inertia estimate based on </a:t>
            </a:r>
            <a:r>
              <a:rPr lang="en-US" b="1" dirty="0"/>
              <a:t>actual</a:t>
            </a:r>
            <a:r>
              <a:rPr lang="en-US" dirty="0"/>
              <a:t> generation</a:t>
            </a:r>
          </a:p>
          <a:p>
            <a:r>
              <a:rPr lang="en-US" dirty="0"/>
              <a:t>(lower bound)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6CFFC42-CEC7-0208-DAC6-BDC31F46B067}"/>
              </a:ext>
            </a:extLst>
          </p:cNvPr>
          <p:cNvCxnSpPr>
            <a:cxnSpLocks/>
          </p:cNvCxnSpPr>
          <p:nvPr/>
        </p:nvCxnSpPr>
        <p:spPr>
          <a:xfrm>
            <a:off x="4675517" y="1768415"/>
            <a:ext cx="424527" cy="949606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4C5CF74-A24A-127F-E93E-DA1CD343B302}"/>
              </a:ext>
            </a:extLst>
          </p:cNvPr>
          <p:cNvCxnSpPr>
            <a:cxnSpLocks/>
          </p:cNvCxnSpPr>
          <p:nvPr/>
        </p:nvCxnSpPr>
        <p:spPr>
          <a:xfrm>
            <a:off x="6651959" y="4270074"/>
            <a:ext cx="628735" cy="0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F6B4082-F248-3A42-DB91-65D9E994FF68}"/>
              </a:ext>
            </a:extLst>
          </p:cNvPr>
          <p:cNvSpPr txBox="1"/>
          <p:nvPr/>
        </p:nvSpPr>
        <p:spPr>
          <a:xfrm>
            <a:off x="224287" y="6358010"/>
            <a:ext cx="5072332" cy="415498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Inertia estimates are based on standard inertial constants for different generation categories as published in </a:t>
            </a:r>
            <a:r>
              <a:rPr lang="en-US" sz="1000" dirty="0">
                <a:hlinkClick r:id="rId3"/>
              </a:rPr>
              <a:t>“Inertia and Rate of Change of Frequency (RoCoF)”, ENTSO-E, 16 Dec. 2020 </a:t>
            </a:r>
            <a:endParaRPr 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281042-6F14-A91B-3F24-6921B0E2AAEE}"/>
              </a:ext>
            </a:extLst>
          </p:cNvPr>
          <p:cNvSpPr txBox="1"/>
          <p:nvPr/>
        </p:nvSpPr>
        <p:spPr>
          <a:xfrm>
            <a:off x="6149572" y="3385281"/>
            <a:ext cx="4018245" cy="52322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400" i="1" dirty="0"/>
              <a:t>Connected generators still contribute inertia, even if generating below their rated capacity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834550B-054B-0250-6706-58716CB32F5E}"/>
              </a:ext>
            </a:extLst>
          </p:cNvPr>
          <p:cNvCxnSpPr>
            <a:cxnSpLocks/>
          </p:cNvCxnSpPr>
          <p:nvPr/>
        </p:nvCxnSpPr>
        <p:spPr>
          <a:xfrm>
            <a:off x="6589393" y="2929233"/>
            <a:ext cx="691301" cy="0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443645C-D2E9-AB05-4AD0-204226DBB17A}"/>
              </a:ext>
            </a:extLst>
          </p:cNvPr>
          <p:cNvSpPr txBox="1"/>
          <p:nvPr/>
        </p:nvSpPr>
        <p:spPr>
          <a:xfrm>
            <a:off x="7280693" y="2100379"/>
            <a:ext cx="2430517" cy="92333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Inertia estimation considering </a:t>
            </a:r>
            <a:r>
              <a:rPr lang="en-US" b="1" dirty="0"/>
              <a:t>connected</a:t>
            </a:r>
            <a:r>
              <a:rPr lang="en-US" b="1" dirty="0">
                <a:solidFill>
                  <a:srgbClr val="FFC000"/>
                </a:solidFill>
              </a:rPr>
              <a:t> </a:t>
            </a:r>
            <a:r>
              <a:rPr lang="en-US" dirty="0"/>
              <a:t>generation. </a:t>
            </a:r>
          </a:p>
        </p:txBody>
      </p:sp>
    </p:spTree>
    <p:extLst>
      <p:ext uri="{BB962C8B-B14F-4D97-AF65-F5344CB8AC3E}">
        <p14:creationId xmlns:p14="http://schemas.microsoft.com/office/powerpoint/2010/main" val="3818511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9FE06-D87F-CD98-5A22-A4614CBA6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AC263-A9D9-91B5-039E-B431D5DB2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EE8C-9BC8-4092-9420-3642836EC31C}" type="slidenum">
              <a:rPr lang="es-ES" altLang="es-ES" smtClean="0"/>
              <a:pPr/>
              <a:t>20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6C186E-C540-88CF-BABC-2141192D1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75" y="424741"/>
            <a:ext cx="6740450" cy="5898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DCF635-0D85-AB20-C537-D8700FC9D89A}"/>
              </a:ext>
            </a:extLst>
          </p:cNvPr>
          <p:cNvSpPr txBox="1"/>
          <p:nvPr/>
        </p:nvSpPr>
        <p:spPr>
          <a:xfrm>
            <a:off x="211175" y="6538912"/>
            <a:ext cx="38274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Source: </a:t>
            </a:r>
            <a:r>
              <a:rPr lang="en-US" sz="800" dirty="0">
                <a:hlinkClick r:id="rId3"/>
              </a:rPr>
              <a:t>El Pais, “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3"/>
              </a:rPr>
              <a:t>¿Qué causó el apagón? </a:t>
            </a:r>
            <a:r>
              <a:rPr lang="en-US" sz="800" b="1" i="0" dirty="0" err="1">
                <a:solidFill>
                  <a:srgbClr val="111111"/>
                </a:solidFill>
                <a:effectLst/>
                <a:latin typeface="MajritTx"/>
                <a:hlinkClick r:id="rId3"/>
              </a:rPr>
              <a:t>Explicación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3"/>
              </a:rPr>
              <a:t> visual y breve de lo que </a:t>
            </a:r>
            <a:r>
              <a:rPr lang="en-US" sz="800" b="1" i="0" dirty="0" err="1">
                <a:solidFill>
                  <a:srgbClr val="111111"/>
                </a:solidFill>
                <a:effectLst/>
                <a:latin typeface="MajritTx"/>
                <a:hlinkClick r:id="rId3"/>
              </a:rPr>
              <a:t>sabemos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3"/>
              </a:rPr>
              <a:t>”</a:t>
            </a:r>
            <a:endParaRPr lang="en-US" sz="800" b="1" i="0" dirty="0">
              <a:solidFill>
                <a:srgbClr val="111111"/>
              </a:solidFill>
              <a:effectLst/>
              <a:latin typeface="MajritTx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7C6305-2230-D18D-FB7A-A3EE39A6C58A}"/>
              </a:ext>
            </a:extLst>
          </p:cNvPr>
          <p:cNvSpPr txBox="1"/>
          <p:nvPr/>
        </p:nvSpPr>
        <p:spPr>
          <a:xfrm>
            <a:off x="6951625" y="4483632"/>
            <a:ext cx="2743201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Iberian connection to France is relatively weak.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9AE285-6AA8-C2B0-0B83-F230945DFCF2}"/>
              </a:ext>
            </a:extLst>
          </p:cNvPr>
          <p:cNvSpPr txBox="1"/>
          <p:nvPr/>
        </p:nvSpPr>
        <p:spPr>
          <a:xfrm>
            <a:off x="6951625" y="3224107"/>
            <a:ext cx="2743201" cy="92333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France, Germany, and Italy have relatively strong interchange capacity.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B460CDF-00FE-35AC-7A11-7DD9A8149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58454"/>
            <a:ext cx="4114800" cy="213285"/>
          </a:xfrm>
        </p:spPr>
        <p:txBody>
          <a:bodyPr/>
          <a:lstStyle/>
          <a:p>
            <a:pPr>
              <a:defRPr/>
            </a:pPr>
            <a:r>
              <a:rPr lang="en-US" dirty="0"/>
              <a:t>Apagón – April 28, 2025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98147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6CED3-5FD0-88A0-BD8A-19021998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E197C8-C0AC-DAE8-ACF9-A45E76D3D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21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329FDC-2219-0839-5EC5-AE599E7FA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740" y="373678"/>
            <a:ext cx="6740450" cy="5898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4114BD-BAAF-702B-7686-C90AEFF2D56C}"/>
              </a:ext>
            </a:extLst>
          </p:cNvPr>
          <p:cNvSpPr txBox="1"/>
          <p:nvPr/>
        </p:nvSpPr>
        <p:spPr>
          <a:xfrm>
            <a:off x="211175" y="6538912"/>
            <a:ext cx="38274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Source: </a:t>
            </a:r>
            <a:r>
              <a:rPr lang="en-US" sz="800" dirty="0">
                <a:hlinkClick r:id="rId3"/>
              </a:rPr>
              <a:t>El Pais, “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3"/>
              </a:rPr>
              <a:t>¿Qué causó el apagón? </a:t>
            </a:r>
            <a:r>
              <a:rPr lang="en-US" sz="800" b="1" i="0" dirty="0" err="1">
                <a:solidFill>
                  <a:srgbClr val="111111"/>
                </a:solidFill>
                <a:effectLst/>
                <a:latin typeface="MajritTx"/>
                <a:hlinkClick r:id="rId3"/>
              </a:rPr>
              <a:t>Explicación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3"/>
              </a:rPr>
              <a:t> visual y breve de lo que </a:t>
            </a:r>
            <a:r>
              <a:rPr lang="en-US" sz="800" b="1" i="0" dirty="0" err="1">
                <a:solidFill>
                  <a:srgbClr val="111111"/>
                </a:solidFill>
                <a:effectLst/>
                <a:latin typeface="MajritTx"/>
                <a:hlinkClick r:id="rId3"/>
              </a:rPr>
              <a:t>sabemos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3"/>
              </a:rPr>
              <a:t>”</a:t>
            </a:r>
            <a:endParaRPr lang="en-US" sz="800" b="1" i="0" dirty="0">
              <a:solidFill>
                <a:srgbClr val="111111"/>
              </a:solidFill>
              <a:effectLst/>
              <a:latin typeface="MajritTx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49347D-8AD7-1F85-1E00-4166C037F424}"/>
              </a:ext>
            </a:extLst>
          </p:cNvPr>
          <p:cNvSpPr txBox="1"/>
          <p:nvPr/>
        </p:nvSpPr>
        <p:spPr>
          <a:xfrm>
            <a:off x="1647645" y="4278383"/>
            <a:ext cx="2743201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Iberian connection to France is relatively weak.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027AA4-824C-6757-6D17-FFDEAEE29BB0}"/>
              </a:ext>
            </a:extLst>
          </p:cNvPr>
          <p:cNvSpPr txBox="1"/>
          <p:nvPr/>
        </p:nvSpPr>
        <p:spPr>
          <a:xfrm>
            <a:off x="2142139" y="2007362"/>
            <a:ext cx="2743201" cy="92333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France, Germany, and Italy have relatively strong interchange capacity.</a:t>
            </a:r>
          </a:p>
        </p:txBody>
      </p:sp>
    </p:spTree>
    <p:extLst>
      <p:ext uri="{BB962C8B-B14F-4D97-AF65-F5344CB8AC3E}">
        <p14:creationId xmlns:p14="http://schemas.microsoft.com/office/powerpoint/2010/main" val="18926278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AF4AF-A83D-B378-DA0A-021CBFED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Connections with France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5F017A-4162-6CB3-2475-19E488913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9B9DF2-2841-A648-5418-3D7BA0446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22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24AAAE-156C-B49B-D8CD-99F81E1F65B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994788"/>
            <a:ext cx="8827481" cy="5361562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E3E0415-280F-1A3B-6F06-2CDC6DD417D1}"/>
              </a:ext>
            </a:extLst>
          </p:cNvPr>
          <p:cNvSpPr/>
          <p:nvPr/>
        </p:nvSpPr>
        <p:spPr>
          <a:xfrm>
            <a:off x="1951709" y="2466362"/>
            <a:ext cx="427839" cy="411061"/>
          </a:xfrm>
          <a:prstGeom prst="ellipse">
            <a:avLst/>
          </a:prstGeom>
          <a:noFill/>
          <a:ln w="571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8E70DD-C9A1-C4D5-5CE4-9308F194E010}"/>
              </a:ext>
            </a:extLst>
          </p:cNvPr>
          <p:cNvSpPr txBox="1"/>
          <p:nvPr/>
        </p:nvSpPr>
        <p:spPr>
          <a:xfrm>
            <a:off x="913700" y="1056525"/>
            <a:ext cx="1465848" cy="1200329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Additional 2.2GW HVDC line expected by 2028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F08016-186C-4807-CBB5-31AE4D79AC22}"/>
              </a:ext>
            </a:extLst>
          </p:cNvPr>
          <p:cNvSpPr txBox="1"/>
          <p:nvPr/>
        </p:nvSpPr>
        <p:spPr>
          <a:xfrm>
            <a:off x="8610600" y="3773577"/>
            <a:ext cx="3438667" cy="369332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Currently ~2.8GW export capacity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6298477-509E-8162-1D10-D83F03EF664F}"/>
              </a:ext>
            </a:extLst>
          </p:cNvPr>
          <p:cNvSpPr/>
          <p:nvPr/>
        </p:nvSpPr>
        <p:spPr>
          <a:xfrm>
            <a:off x="8153399" y="4254614"/>
            <a:ext cx="182880" cy="182880"/>
          </a:xfrm>
          <a:prstGeom prst="ellipse">
            <a:avLst/>
          </a:prstGeom>
          <a:noFill/>
          <a:ln w="571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0B48F4B-3537-45EE-C6F1-C187090E089F}"/>
              </a:ext>
            </a:extLst>
          </p:cNvPr>
          <p:cNvSpPr/>
          <p:nvPr/>
        </p:nvSpPr>
        <p:spPr>
          <a:xfrm>
            <a:off x="2615228" y="2814623"/>
            <a:ext cx="182880" cy="182880"/>
          </a:xfrm>
          <a:prstGeom prst="ellipse">
            <a:avLst/>
          </a:prstGeom>
          <a:noFill/>
          <a:ln w="571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F276C53-5C03-A857-4A58-6E5785FF0A1A}"/>
              </a:ext>
            </a:extLst>
          </p:cNvPr>
          <p:cNvSpPr/>
          <p:nvPr/>
        </p:nvSpPr>
        <p:spPr>
          <a:xfrm>
            <a:off x="2405948" y="2814623"/>
            <a:ext cx="182880" cy="182880"/>
          </a:xfrm>
          <a:prstGeom prst="ellipse">
            <a:avLst/>
          </a:prstGeom>
          <a:noFill/>
          <a:ln w="571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7DB37FE-7775-9AA3-F2E4-92A096B80BD3}"/>
              </a:ext>
            </a:extLst>
          </p:cNvPr>
          <p:cNvSpPr/>
          <p:nvPr/>
        </p:nvSpPr>
        <p:spPr>
          <a:xfrm>
            <a:off x="4407715" y="3866803"/>
            <a:ext cx="182880" cy="182880"/>
          </a:xfrm>
          <a:prstGeom prst="ellipse">
            <a:avLst/>
          </a:prstGeom>
          <a:noFill/>
          <a:ln w="571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9015DFB-5022-EC02-3C0C-2D7A4BFFB18A}"/>
              </a:ext>
            </a:extLst>
          </p:cNvPr>
          <p:cNvSpPr/>
          <p:nvPr/>
        </p:nvSpPr>
        <p:spPr>
          <a:xfrm>
            <a:off x="7705986" y="4467974"/>
            <a:ext cx="182880" cy="182880"/>
          </a:xfrm>
          <a:prstGeom prst="ellipse">
            <a:avLst/>
          </a:prstGeom>
          <a:noFill/>
          <a:ln w="571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FADBFC-3042-8E69-0D02-648C05E3BCC6}"/>
              </a:ext>
            </a:extLst>
          </p:cNvPr>
          <p:cNvSpPr txBox="1"/>
          <p:nvPr/>
        </p:nvSpPr>
        <p:spPr>
          <a:xfrm>
            <a:off x="211175" y="6538912"/>
            <a:ext cx="38274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Map Source: </a:t>
            </a:r>
            <a:r>
              <a:rPr lang="en-US" sz="800" dirty="0">
                <a:hlinkClick r:id="rId3"/>
              </a:rPr>
              <a:t>ENTSO-E</a:t>
            </a:r>
            <a:endParaRPr lang="en-US" sz="800" b="1" i="0" dirty="0">
              <a:solidFill>
                <a:srgbClr val="111111"/>
              </a:solidFill>
              <a:effectLst/>
              <a:latin typeface="MajritTx"/>
            </a:endParaRPr>
          </a:p>
        </p:txBody>
      </p:sp>
    </p:spTree>
    <p:extLst>
      <p:ext uri="{BB962C8B-B14F-4D97-AF65-F5344CB8AC3E}">
        <p14:creationId xmlns:p14="http://schemas.microsoft.com/office/powerpoint/2010/main" val="2585498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DBF70-A99F-1CB2-261F-AF85D449F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Exports to France were below average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3B378A-C6F0-E641-44F0-9C794944A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85A36E-137A-DB4D-639A-E5E0C45E6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23</a:t>
            </a:fld>
            <a:endParaRPr lang="es-ES" altLang="es-ES"/>
          </a:p>
        </p:txBody>
      </p:sp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8AC6C9A8-22EB-8BD2-1AE4-E48F7E351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57" y="975436"/>
            <a:ext cx="10781303" cy="53906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7EF339-034C-E794-6C3F-484CB6D17942}"/>
              </a:ext>
            </a:extLst>
          </p:cNvPr>
          <p:cNvSpPr txBox="1"/>
          <p:nvPr/>
        </p:nvSpPr>
        <p:spPr>
          <a:xfrm>
            <a:off x="2021746" y="5358533"/>
            <a:ext cx="5557707" cy="369332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~6am, exports to France fall below the seasonal average.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3D0DE97-BE85-DC16-7D17-85671157087B}"/>
              </a:ext>
            </a:extLst>
          </p:cNvPr>
          <p:cNvCxnSpPr>
            <a:cxnSpLocks/>
          </p:cNvCxnSpPr>
          <p:nvPr/>
        </p:nvCxnSpPr>
        <p:spPr>
          <a:xfrm flipH="1" flipV="1">
            <a:off x="3892492" y="2684477"/>
            <a:ext cx="453005" cy="2674056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8B212D4-5A8C-BA0C-3F01-1546782BEE5A}"/>
              </a:ext>
            </a:extLst>
          </p:cNvPr>
          <p:cNvCxnSpPr>
            <a:cxnSpLocks/>
          </p:cNvCxnSpPr>
          <p:nvPr/>
        </p:nvCxnSpPr>
        <p:spPr>
          <a:xfrm flipV="1">
            <a:off x="4345497" y="3179428"/>
            <a:ext cx="234892" cy="2179105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5">
            <a:extLst>
              <a:ext uri="{FF2B5EF4-FFF2-40B4-BE49-F238E27FC236}">
                <a16:creationId xmlns:a16="http://schemas.microsoft.com/office/drawing/2014/main" id="{7FF8B415-BC48-1DAC-57C4-C2311140B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8813" y="1765165"/>
            <a:ext cx="429973" cy="385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A6A8F7-88C6-568D-F3D6-2DB8B5384A42}"/>
              </a:ext>
            </a:extLst>
          </p:cNvPr>
          <p:cNvSpPr txBox="1"/>
          <p:nvPr/>
        </p:nvSpPr>
        <p:spPr>
          <a:xfrm>
            <a:off x="1271332" y="6358010"/>
            <a:ext cx="2869347" cy="276999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Source: ENTSO-E Transparency Platform</a:t>
            </a:r>
          </a:p>
        </p:txBody>
      </p:sp>
    </p:spTree>
    <p:extLst>
      <p:ext uri="{BB962C8B-B14F-4D97-AF65-F5344CB8AC3E}">
        <p14:creationId xmlns:p14="http://schemas.microsoft.com/office/powerpoint/2010/main" val="1553427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BD19-E35D-0F58-F581-C90481EE6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E92DFF-141B-51F4-69D7-87A812B5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BFF95-5D93-36A0-8F45-9B81BE7FC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24</a:t>
            </a:fld>
            <a:endParaRPr lang="es-ES" altLang="es-E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EDF3A24-BFF2-D950-EC89-5327EB736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187" y="1014672"/>
            <a:ext cx="11550770" cy="5380500"/>
          </a:xfrm>
        </p:spPr>
        <p:txBody>
          <a:bodyPr/>
          <a:lstStyle/>
          <a:p>
            <a:r>
              <a:rPr lang="en-US" dirty="0"/>
              <a:t>On April 28</a:t>
            </a:r>
            <a:r>
              <a:rPr lang="en-US" baseline="30000" dirty="0"/>
              <a:t>th</a:t>
            </a:r>
            <a:r>
              <a:rPr lang="en-US" dirty="0"/>
              <a:t>, 2025, the operating conditions on the Spanish grid were challenging, but not unprecedented.</a:t>
            </a:r>
          </a:p>
          <a:p>
            <a:endParaRPr lang="en-US" dirty="0"/>
          </a:p>
          <a:p>
            <a:r>
              <a:rPr lang="en-US" dirty="0"/>
              <a:t>The authors are actively working to reconstruct the grid conditions of April 28 and will continue to publish our findings publicly.</a:t>
            </a:r>
          </a:p>
          <a:p>
            <a:endParaRPr lang="en-US" dirty="0"/>
          </a:p>
          <a:p>
            <a:r>
              <a:rPr lang="en-US" dirty="0"/>
              <a:t>Any feedback or relevant data is appreciated! </a:t>
            </a:r>
          </a:p>
          <a:p>
            <a:pPr lvl="1"/>
            <a:r>
              <a:rPr lang="en-US" dirty="0"/>
              <a:t>Professor Pablo García Fernández: </a:t>
            </a:r>
            <a:r>
              <a:rPr lang="en-US" dirty="0">
                <a:hlinkClick r:id="rId2"/>
              </a:rPr>
              <a:t>garciafpablo@uniovi.es</a:t>
            </a:r>
            <a:endParaRPr lang="en-US" dirty="0"/>
          </a:p>
          <a:p>
            <a:pPr lvl="1"/>
            <a:r>
              <a:rPr lang="en-US" dirty="0"/>
              <a:t>Bryan Murray: uo292264@uniovi.es</a:t>
            </a:r>
          </a:p>
        </p:txBody>
      </p:sp>
    </p:spTree>
    <p:extLst>
      <p:ext uri="{BB962C8B-B14F-4D97-AF65-F5344CB8AC3E}">
        <p14:creationId xmlns:p14="http://schemas.microsoft.com/office/powerpoint/2010/main" val="4423451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EF2D4-BDDA-4675-9E5D-EAA76C4CD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elogramo 6">
            <a:extLst>
              <a:ext uri="{FF2B5EF4-FFF2-40B4-BE49-F238E27FC236}">
                <a16:creationId xmlns:a16="http://schemas.microsoft.com/office/drawing/2014/main" id="{7E7A16FC-5441-26D6-EEC7-EBC87FBC560F}"/>
              </a:ext>
            </a:extLst>
          </p:cNvPr>
          <p:cNvSpPr/>
          <p:nvPr/>
        </p:nvSpPr>
        <p:spPr>
          <a:xfrm flipH="1">
            <a:off x="0" y="0"/>
            <a:ext cx="5527675" cy="6858000"/>
          </a:xfrm>
          <a:prstGeom prst="parallelogram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1D21DFF-47F3-4651-0614-3E6F383F7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5AE09BB-B6BF-466C-9F64-2188A5A41A10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25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37C085E-995A-6D6D-AEFC-AE153E0B3A91}"/>
              </a:ext>
            </a:extLst>
          </p:cNvPr>
          <p:cNvSpPr txBox="1"/>
          <p:nvPr/>
        </p:nvSpPr>
        <p:spPr>
          <a:xfrm>
            <a:off x="2252663" y="2787650"/>
            <a:ext cx="7596187" cy="923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LEMUR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latin typeface="Cabin Regular" pitchFamily="2" charset="77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108858A-EDB6-BBF6-EFB8-92CE683D63B6}"/>
              </a:ext>
            </a:extLst>
          </p:cNvPr>
          <p:cNvSpPr/>
          <p:nvPr/>
        </p:nvSpPr>
        <p:spPr>
          <a:xfrm flipV="1">
            <a:off x="8097838" y="3527425"/>
            <a:ext cx="1751012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pic>
        <p:nvPicPr>
          <p:cNvPr id="9" name="Imagen 5">
            <a:extLst>
              <a:ext uri="{FF2B5EF4-FFF2-40B4-BE49-F238E27FC236}">
                <a16:creationId xmlns:a16="http://schemas.microsoft.com/office/drawing/2014/main" id="{89A4D5E0-3A45-A7C8-6E5F-66CA40D05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31DB6920-B177-CFB4-6C48-6A91DA64D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88736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A025465-2551-B84E-8F52-B4CA8926C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75DE5F0-2340-4BBD-AC13-1753A5E8EB02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26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55299" name="CuadroTexto 3">
            <a:extLst>
              <a:ext uri="{FF2B5EF4-FFF2-40B4-BE49-F238E27FC236}">
                <a16:creationId xmlns:a16="http://schemas.microsoft.com/office/drawing/2014/main" id="{23C61BA9-3E65-597F-B208-F01767E46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713" y="2425700"/>
            <a:ext cx="546417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ES" dirty="0">
                <a:latin typeface="Cabin" pitchFamily="2" charset="0"/>
              </a:rPr>
              <a:t>LEMUR </a:t>
            </a:r>
            <a:r>
              <a:rPr lang="es-ES" altLang="es-ES" dirty="0" err="1">
                <a:latin typeface="Cabin" pitchFamily="2" charset="0"/>
              </a:rPr>
              <a:t>is</a:t>
            </a:r>
            <a:r>
              <a:rPr lang="es-ES" altLang="es-ES" dirty="0">
                <a:latin typeface="Cabin" pitchFamily="2" charset="0"/>
              </a:rPr>
              <a:t> a </a:t>
            </a:r>
            <a:r>
              <a:rPr lang="es-ES" altLang="es-ES" b="1" dirty="0" err="1">
                <a:latin typeface="Cabin" pitchFamily="2" charset="0"/>
              </a:rPr>
              <a:t>multidisciplinary</a:t>
            </a:r>
            <a:r>
              <a:rPr lang="es-ES" altLang="es-ES" b="1" dirty="0">
                <a:latin typeface="Cabin" pitchFamily="2" charset="0"/>
              </a:rPr>
              <a:t> </a:t>
            </a:r>
            <a:r>
              <a:rPr lang="es-ES" altLang="es-ES" b="1" dirty="0" err="1">
                <a:latin typeface="Cabin" pitchFamily="2" charset="0"/>
              </a:rPr>
              <a:t>research</a:t>
            </a:r>
            <a:r>
              <a:rPr lang="es-ES" altLang="es-ES" b="1" dirty="0">
                <a:latin typeface="Cabin" pitchFamily="2" charset="0"/>
              </a:rPr>
              <a:t> </a:t>
            </a:r>
            <a:r>
              <a:rPr lang="es-ES" altLang="es-ES" b="1" dirty="0" err="1">
                <a:latin typeface="Cabin" pitchFamily="2" charset="0"/>
              </a:rPr>
              <a:t>team</a:t>
            </a:r>
            <a:r>
              <a:rPr lang="es-ES" altLang="es-ES" b="1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with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researchers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belonging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to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different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knowledge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areas</a:t>
            </a:r>
            <a:r>
              <a:rPr lang="es-ES" altLang="es-ES" dirty="0">
                <a:latin typeface="Cabin" pitchFamily="2" charset="0"/>
              </a:rPr>
              <a:t>: </a:t>
            </a:r>
            <a:r>
              <a:rPr lang="es-ES" altLang="es-ES" dirty="0" err="1">
                <a:latin typeface="Cabin" pitchFamily="2" charset="0"/>
              </a:rPr>
              <a:t>Electrical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Engineering</a:t>
            </a:r>
            <a:r>
              <a:rPr lang="es-ES" altLang="es-ES" dirty="0">
                <a:latin typeface="Cabin" pitchFamily="2" charset="0"/>
              </a:rPr>
              <a:t>, </a:t>
            </a:r>
            <a:r>
              <a:rPr lang="es-ES" altLang="es-ES" dirty="0" err="1">
                <a:latin typeface="Cabin" pitchFamily="2" charset="0"/>
              </a:rPr>
              <a:t>Power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Electronics</a:t>
            </a:r>
            <a:r>
              <a:rPr lang="es-ES" altLang="es-ES" dirty="0">
                <a:latin typeface="Cabin" pitchFamily="2" charset="0"/>
              </a:rPr>
              <a:t> and </a:t>
            </a:r>
            <a:r>
              <a:rPr lang="es-ES" altLang="es-ES" dirty="0" err="1">
                <a:latin typeface="Cabin" pitchFamily="2" charset="0"/>
              </a:rPr>
              <a:t>Automation</a:t>
            </a:r>
            <a:r>
              <a:rPr lang="es-ES" altLang="es-ES" dirty="0">
                <a:latin typeface="Cabin" pitchFamily="2" charset="0"/>
              </a:rPr>
              <a:t> and Control </a:t>
            </a:r>
            <a:r>
              <a:rPr lang="es-ES" altLang="es-ES" dirty="0" err="1">
                <a:latin typeface="Cabin" pitchFamily="2" charset="0"/>
              </a:rPr>
              <a:t>Engineering</a:t>
            </a:r>
            <a:r>
              <a:rPr lang="es-ES" altLang="es-ES" dirty="0">
                <a:latin typeface="Cabin" pitchFamily="2" charset="0"/>
              </a:rPr>
              <a:t>. </a:t>
            </a:r>
            <a:r>
              <a:rPr lang="es-ES" altLang="es-ES" dirty="0" err="1">
                <a:latin typeface="Cabin" pitchFamily="2" charset="0"/>
              </a:rPr>
              <a:t>The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strength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is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based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on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looking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for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synergies</a:t>
            </a:r>
            <a:r>
              <a:rPr lang="es-ES" altLang="es-ES" dirty="0">
                <a:latin typeface="Cabin" pitchFamily="2" charset="0"/>
              </a:rPr>
              <a:t> and </a:t>
            </a:r>
            <a:r>
              <a:rPr lang="es-ES" altLang="es-ES" dirty="0" err="1">
                <a:latin typeface="Cabin" pitchFamily="2" charset="0"/>
              </a:rPr>
              <a:t>knowledge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integration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among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team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members</a:t>
            </a:r>
            <a:r>
              <a:rPr lang="es-ES" altLang="es-ES" dirty="0">
                <a:latin typeface="Cabin" pitchFamily="2" charset="0"/>
              </a:rPr>
              <a:t> in </a:t>
            </a:r>
            <a:r>
              <a:rPr lang="es-ES" altLang="es-ES" dirty="0" err="1">
                <a:latin typeface="Cabin" pitchFamily="2" charset="0"/>
              </a:rPr>
              <a:t>order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to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apply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for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bigger</a:t>
            </a:r>
            <a:r>
              <a:rPr lang="es-ES" altLang="es-ES" dirty="0">
                <a:latin typeface="Cabin" pitchFamily="2" charset="0"/>
              </a:rPr>
              <a:t> and </a:t>
            </a:r>
            <a:r>
              <a:rPr lang="es-ES" altLang="es-ES" dirty="0" err="1">
                <a:latin typeface="Cabin" pitchFamily="2" charset="0"/>
              </a:rPr>
              <a:t>complex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research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projects</a:t>
            </a:r>
            <a:r>
              <a:rPr lang="es-ES" altLang="es-ES" dirty="0">
                <a:latin typeface="Cabin" pitchFamily="2" charset="0"/>
              </a:rPr>
              <a:t>. </a:t>
            </a:r>
          </a:p>
          <a:p>
            <a:pPr eaLnBrk="1" hangingPunct="1"/>
            <a:endParaRPr lang="es-ES" altLang="es-ES" dirty="0">
              <a:latin typeface="Cabin Regular" pitchFamily="2" charset="0"/>
            </a:endParaRPr>
          </a:p>
        </p:txBody>
      </p:sp>
      <p:pic>
        <p:nvPicPr>
          <p:cNvPr id="55300" name="Imagen 5">
            <a:extLst>
              <a:ext uri="{FF2B5EF4-FFF2-40B4-BE49-F238E27FC236}">
                <a16:creationId xmlns:a16="http://schemas.microsoft.com/office/drawing/2014/main" id="{DEE96624-C6AF-920E-7E96-4DCF27BDB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9913" y="1906588"/>
            <a:ext cx="3927475" cy="3513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80087DE-DFA1-A147-A165-C01AB7733A25}"/>
              </a:ext>
            </a:extLst>
          </p:cNvPr>
          <p:cNvSpPr txBox="1"/>
          <p:nvPr/>
        </p:nvSpPr>
        <p:spPr>
          <a:xfrm>
            <a:off x="747713" y="1725613"/>
            <a:ext cx="510698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4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OUR GOAL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9A58D0-D777-0840-AA05-092804E1D903}"/>
              </a:ext>
            </a:extLst>
          </p:cNvPr>
          <p:cNvSpPr/>
          <p:nvPr/>
        </p:nvSpPr>
        <p:spPr>
          <a:xfrm flipV="1">
            <a:off x="2995613" y="2001838"/>
            <a:ext cx="2859087" cy="44450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F5F85D3-A922-E99B-E22B-0180FB40A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9B289AB2-508B-26FD-FAA0-936FFE953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70F7993-F312-F046-A97F-903138B4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123E174A-FA13-43B4-A63C-BE86EAA1FA76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27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0434217-CA6C-3449-B5AA-ABFE7FEE4F43}"/>
              </a:ext>
            </a:extLst>
          </p:cNvPr>
          <p:cNvSpPr txBox="1"/>
          <p:nvPr/>
        </p:nvSpPr>
        <p:spPr>
          <a:xfrm>
            <a:off x="747713" y="2425700"/>
            <a:ext cx="10606087" cy="3324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1600">
                <a:latin typeface="Cabin" pitchFamily="2" charset="77"/>
              </a:rPr>
              <a:t>To </a:t>
            </a:r>
            <a:r>
              <a:rPr lang="es-ES" sz="1600" err="1">
                <a:latin typeface="Cabin" pitchFamily="2" charset="77"/>
              </a:rPr>
              <a:t>integrate</a:t>
            </a:r>
            <a:r>
              <a:rPr lang="es-ES" sz="1600">
                <a:latin typeface="Cabin" pitchFamily="2" charset="77"/>
              </a:rPr>
              <a:t> in a </a:t>
            </a:r>
            <a:r>
              <a:rPr lang="es-ES" sz="1600" err="1">
                <a:latin typeface="Cabin" pitchFamily="2" charset="77"/>
              </a:rPr>
              <a:t>laboratory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an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environment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for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testing</a:t>
            </a:r>
            <a:r>
              <a:rPr lang="es-ES" sz="1600">
                <a:latin typeface="Cabin" pitchFamily="2" charset="77"/>
              </a:rPr>
              <a:t> of </a:t>
            </a:r>
            <a:r>
              <a:rPr lang="es-ES" sz="1600" err="1">
                <a:latin typeface="Cabin" pitchFamily="2" charset="77"/>
              </a:rPr>
              <a:t>small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scale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distributed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energy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systems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their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integration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into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electrical</a:t>
            </a:r>
            <a:r>
              <a:rPr lang="es-ES" sz="1600">
                <a:latin typeface="Cabin" pitchFamily="2" charset="77"/>
              </a:rPr>
              <a:t>  </a:t>
            </a:r>
            <a:r>
              <a:rPr lang="es-ES" sz="1600" err="1">
                <a:latin typeface="Cabin" pitchFamily="2" charset="77"/>
              </a:rPr>
              <a:t>grid</a:t>
            </a:r>
            <a:r>
              <a:rPr lang="es-ES" sz="1600">
                <a:latin typeface="Cabin" pitchFamily="2" charset="77"/>
              </a:rPr>
              <a:t>. </a:t>
            </a:r>
            <a:r>
              <a:rPr lang="es-ES" sz="1600" err="1">
                <a:latin typeface="Cabin" pitchFamily="2" charset="77"/>
              </a:rPr>
              <a:t>For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study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analysis</a:t>
            </a:r>
            <a:r>
              <a:rPr lang="es-ES" sz="1600">
                <a:latin typeface="Cabin" pitchFamily="2" charset="77"/>
              </a:rPr>
              <a:t>, a </a:t>
            </a:r>
            <a:r>
              <a:rPr lang="es-ES" sz="1600" err="1">
                <a:latin typeface="Cabin" pitchFamily="2" charset="77"/>
              </a:rPr>
              <a:t>four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level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approach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is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proposed</a:t>
            </a:r>
            <a:r>
              <a:rPr lang="es-ES" sz="1600">
                <a:latin typeface="Cabin" pitchFamily="2" charset="77"/>
              </a:rPr>
              <a:t>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1600">
              <a:latin typeface="Cabin" pitchFamily="2" charset="77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s-ES" sz="1600" err="1">
                <a:latin typeface="Cabin" pitchFamily="2" charset="77"/>
              </a:rPr>
              <a:t>Development</a:t>
            </a:r>
            <a:r>
              <a:rPr lang="es-ES" sz="1600">
                <a:latin typeface="Cabin" pitchFamily="2" charset="77"/>
              </a:rPr>
              <a:t> of </a:t>
            </a:r>
            <a:r>
              <a:rPr lang="es-ES" sz="1600" err="1">
                <a:latin typeface="Cabin" pitchFamily="2" charset="77"/>
              </a:rPr>
              <a:t>generation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systems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power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converters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for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injection</a:t>
            </a:r>
            <a:r>
              <a:rPr lang="es-ES" sz="1600">
                <a:latin typeface="Cabin" pitchFamily="2" charset="77"/>
              </a:rPr>
              <a:t> of </a:t>
            </a:r>
            <a:r>
              <a:rPr lang="es-ES" sz="1600" err="1">
                <a:latin typeface="Cabin" pitchFamily="2" charset="77"/>
              </a:rPr>
              <a:t>electrical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energy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into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grid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under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efficiency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reliability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constraints</a:t>
            </a:r>
            <a:r>
              <a:rPr lang="es-ES" sz="1600">
                <a:latin typeface="Cabin" pitchFamily="2" charset="77"/>
              </a:rPr>
              <a:t>. 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s-ES" sz="1600" err="1">
                <a:latin typeface="Cabin" pitchFamily="2" charset="77"/>
              </a:rPr>
              <a:t>Development</a:t>
            </a:r>
            <a:r>
              <a:rPr lang="es-ES" sz="1600">
                <a:latin typeface="Cabin" pitchFamily="2" charset="77"/>
              </a:rPr>
              <a:t> of </a:t>
            </a:r>
            <a:r>
              <a:rPr lang="es-ES" sz="1600" err="1">
                <a:latin typeface="Cabin" pitchFamily="2" charset="77"/>
              </a:rPr>
              <a:t>energy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storage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systems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for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compensation</a:t>
            </a:r>
            <a:r>
              <a:rPr lang="es-ES" sz="1600">
                <a:latin typeface="Cabin" pitchFamily="2" charset="77"/>
              </a:rPr>
              <a:t> of </a:t>
            </a:r>
            <a:r>
              <a:rPr lang="es-ES" sz="1600" err="1">
                <a:latin typeface="Cabin" pitchFamily="2" charset="77"/>
              </a:rPr>
              <a:t>transient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demands</a:t>
            </a:r>
            <a:r>
              <a:rPr lang="es-ES" sz="1600">
                <a:latin typeface="Cabin" pitchFamily="2" charset="77"/>
              </a:rPr>
              <a:t> at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electrical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grid</a:t>
            </a:r>
            <a:r>
              <a:rPr lang="es-ES" sz="1600">
                <a:latin typeface="Cabin" pitchFamily="2" charset="77"/>
              </a:rPr>
              <a:t>, </a:t>
            </a:r>
            <a:r>
              <a:rPr lang="es-ES" sz="1600" err="1">
                <a:latin typeface="Cabin" pitchFamily="2" charset="77"/>
              </a:rPr>
              <a:t>including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pulsating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generation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by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renewable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energy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systems</a:t>
            </a:r>
            <a:r>
              <a:rPr lang="es-ES" sz="1600">
                <a:latin typeface="Cabin" pitchFamily="2" charset="77"/>
              </a:rPr>
              <a:t>, </a:t>
            </a:r>
            <a:r>
              <a:rPr lang="es-ES" sz="1600" err="1">
                <a:latin typeface="Cabin" pitchFamily="2" charset="77"/>
              </a:rPr>
              <a:t>grid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contingencies</a:t>
            </a:r>
            <a:r>
              <a:rPr lang="es-ES" sz="1600">
                <a:latin typeface="Cabin" pitchFamily="2" charset="77"/>
              </a:rPr>
              <a:t> and virtual </a:t>
            </a:r>
            <a:r>
              <a:rPr lang="es-ES" sz="1600" err="1">
                <a:latin typeface="Cabin" pitchFamily="2" charset="77"/>
              </a:rPr>
              <a:t>zero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demanding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energy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buildings</a:t>
            </a:r>
            <a:r>
              <a:rPr lang="es-ES" sz="1600">
                <a:latin typeface="Cabin" pitchFamily="2" charset="77"/>
              </a:rPr>
              <a:t>. 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s-ES" sz="1600" err="1">
                <a:latin typeface="Cabin" pitchFamily="2" charset="77"/>
              </a:rPr>
              <a:t>Development</a:t>
            </a:r>
            <a:r>
              <a:rPr lang="es-ES" sz="1600">
                <a:latin typeface="Cabin" pitchFamily="2" charset="77"/>
              </a:rPr>
              <a:t> of </a:t>
            </a:r>
            <a:r>
              <a:rPr lang="es-ES" sz="1600" err="1">
                <a:latin typeface="Cabin" pitchFamily="2" charset="77"/>
              </a:rPr>
              <a:t>coordinated</a:t>
            </a:r>
            <a:r>
              <a:rPr lang="es-ES" sz="1600">
                <a:latin typeface="Cabin" pitchFamily="2" charset="77"/>
              </a:rPr>
              <a:t> control </a:t>
            </a:r>
            <a:r>
              <a:rPr lang="es-ES" sz="1600" err="1">
                <a:latin typeface="Cabin" pitchFamily="2" charset="77"/>
              </a:rPr>
              <a:t>strategies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for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all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small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scale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generators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installed</a:t>
            </a:r>
            <a:r>
              <a:rPr lang="es-ES" sz="1600">
                <a:latin typeface="Cabin" pitchFamily="2" charset="77"/>
              </a:rPr>
              <a:t> at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grid</a:t>
            </a:r>
            <a:r>
              <a:rPr lang="es-ES" sz="1600">
                <a:latin typeface="Cabin" pitchFamily="2" charset="77"/>
              </a:rPr>
              <a:t> in </a:t>
            </a:r>
            <a:r>
              <a:rPr lang="es-ES" sz="1600" err="1">
                <a:latin typeface="Cabin" pitchFamily="2" charset="77"/>
              </a:rPr>
              <a:t>order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system</a:t>
            </a:r>
            <a:r>
              <a:rPr lang="es-ES" sz="1600">
                <a:latin typeface="Cabin" pitchFamily="2" charset="77"/>
              </a:rPr>
              <a:t> to </a:t>
            </a:r>
            <a:r>
              <a:rPr lang="es-ES" sz="1600" err="1">
                <a:latin typeface="Cabin" pitchFamily="2" charset="77"/>
              </a:rPr>
              <a:t>behave</a:t>
            </a:r>
            <a:r>
              <a:rPr lang="es-ES" sz="1600">
                <a:latin typeface="Cabin" pitchFamily="2" charset="77"/>
              </a:rPr>
              <a:t> as a virtual </a:t>
            </a:r>
            <a:r>
              <a:rPr lang="es-ES" sz="1600" err="1">
                <a:latin typeface="Cabin" pitchFamily="2" charset="77"/>
              </a:rPr>
              <a:t>integrated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power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plant</a:t>
            </a:r>
            <a:r>
              <a:rPr lang="es-ES" sz="1600">
                <a:latin typeface="Cabin" pitchFamily="2" charset="77"/>
              </a:rPr>
              <a:t>. </a:t>
            </a:r>
            <a:r>
              <a:rPr lang="es-ES" sz="1600" err="1">
                <a:latin typeface="Cabin" pitchFamily="2" charset="77"/>
              </a:rPr>
              <a:t>Development</a:t>
            </a:r>
            <a:r>
              <a:rPr lang="es-ES" sz="1600">
                <a:latin typeface="Cabin" pitchFamily="2" charset="77"/>
              </a:rPr>
              <a:t> of new </a:t>
            </a:r>
            <a:r>
              <a:rPr lang="es-ES" sz="1600" err="1">
                <a:latin typeface="Cabin" pitchFamily="2" charset="77"/>
              </a:rPr>
              <a:t>power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flow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algorithms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for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considering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unbalanced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conditions</a:t>
            </a:r>
            <a:r>
              <a:rPr lang="es-ES" sz="1600">
                <a:latin typeface="Cabin" pitchFamily="2" charset="77"/>
              </a:rPr>
              <a:t> at </a:t>
            </a:r>
            <a:r>
              <a:rPr lang="es-ES" sz="1600" err="1">
                <a:latin typeface="Cabin" pitchFamily="2" charset="77"/>
              </a:rPr>
              <a:t>weak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grids</a:t>
            </a:r>
            <a:r>
              <a:rPr lang="es-ES" sz="1600">
                <a:latin typeface="Cabin" pitchFamily="2" charset="77"/>
              </a:rPr>
              <a:t> (single </a:t>
            </a:r>
            <a:r>
              <a:rPr lang="es-ES" sz="1600" err="1">
                <a:latin typeface="Cabin" pitchFamily="2" charset="77"/>
              </a:rPr>
              <a:t>phase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loads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generation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systems</a:t>
            </a:r>
            <a:r>
              <a:rPr lang="es-ES" sz="1600">
                <a:latin typeface="Cabin" pitchFamily="2" charset="77"/>
              </a:rPr>
              <a:t>). 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s-ES" sz="1600" err="1">
                <a:latin typeface="Cabin" pitchFamily="2" charset="77"/>
              </a:rPr>
              <a:t>Study</a:t>
            </a:r>
            <a:r>
              <a:rPr lang="es-ES" sz="1600">
                <a:latin typeface="Cabin" pitchFamily="2" charset="77"/>
              </a:rPr>
              <a:t> of new </a:t>
            </a:r>
            <a:r>
              <a:rPr lang="es-ES" sz="1600" err="1">
                <a:latin typeface="Cabin" pitchFamily="2" charset="77"/>
              </a:rPr>
              <a:t>economic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infrastructure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models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relying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on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distributed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generation</a:t>
            </a:r>
            <a:r>
              <a:rPr lang="es-ES" sz="1600">
                <a:latin typeface="Cabin" pitchFamily="2" charset="77"/>
              </a:rPr>
              <a:t>, </a:t>
            </a:r>
            <a:r>
              <a:rPr lang="es-ES" sz="1600" err="1">
                <a:latin typeface="Cabin" pitchFamily="2" charset="77"/>
              </a:rPr>
              <a:t>which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allow</a:t>
            </a:r>
            <a:r>
              <a:rPr lang="es-ES" sz="1600">
                <a:latin typeface="Cabin" pitchFamily="2" charset="77"/>
              </a:rPr>
              <a:t> to </a:t>
            </a:r>
            <a:r>
              <a:rPr lang="es-ES" sz="1600" err="1">
                <a:latin typeface="Cabin" pitchFamily="2" charset="77"/>
              </a:rPr>
              <a:t>maximize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benefits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considering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existing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future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regulations</a:t>
            </a:r>
            <a:r>
              <a:rPr lang="es-ES" sz="1600">
                <a:latin typeface="Cabin" pitchFamily="2" charset="77"/>
              </a:rPr>
              <a:t>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020C799-E239-A148-ADF3-3681DDC4490E}"/>
              </a:ext>
            </a:extLst>
          </p:cNvPr>
          <p:cNvSpPr txBox="1"/>
          <p:nvPr/>
        </p:nvSpPr>
        <p:spPr>
          <a:xfrm>
            <a:off x="747713" y="1725613"/>
            <a:ext cx="510698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400" b="1" spc="30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OUR VISION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D37A48B-ED06-684C-B584-66BF4D12E5C0}"/>
              </a:ext>
            </a:extLst>
          </p:cNvPr>
          <p:cNvSpPr/>
          <p:nvPr/>
        </p:nvSpPr>
        <p:spPr>
          <a:xfrm flipV="1">
            <a:off x="3295650" y="2008188"/>
            <a:ext cx="7808913" cy="46037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pic>
        <p:nvPicPr>
          <p:cNvPr id="11" name="Imagen 5">
            <a:extLst>
              <a:ext uri="{FF2B5EF4-FFF2-40B4-BE49-F238E27FC236}">
                <a16:creationId xmlns:a16="http://schemas.microsoft.com/office/drawing/2014/main" id="{0691187F-7426-2E50-268E-DAD0E153A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E64C7E90-E453-BCEB-4D85-7A78E5BB0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61E976B-3C33-384A-A0AE-D160C204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BBE97E3-8C9F-42E3-9D89-BE392B084C60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28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4A2567D-D3EE-1448-8A0B-D571F1852224}"/>
              </a:ext>
            </a:extLst>
          </p:cNvPr>
          <p:cNvSpPr txBox="1"/>
          <p:nvPr/>
        </p:nvSpPr>
        <p:spPr>
          <a:xfrm>
            <a:off x="-1419225" y="1725613"/>
            <a:ext cx="5106988" cy="831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400" b="1" spc="30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OUR RESEARCH </a:t>
            </a: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400" b="1" spc="30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LINES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C154507-AA8A-3D4E-97B4-EB586EF1D88C}"/>
              </a:ext>
            </a:extLst>
          </p:cNvPr>
          <p:cNvSpPr/>
          <p:nvPr/>
        </p:nvSpPr>
        <p:spPr>
          <a:xfrm rot="5400000" flipV="1">
            <a:off x="1538288" y="3044825"/>
            <a:ext cx="4343400" cy="44450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57349" name="CuadroTexto 5">
            <a:extLst>
              <a:ext uri="{FF2B5EF4-FFF2-40B4-BE49-F238E27FC236}">
                <a16:creationId xmlns:a16="http://schemas.microsoft.com/office/drawing/2014/main" id="{BABAA58F-D4B8-C419-41D7-33C20E8F8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0638" y="895350"/>
            <a:ext cx="5980112" cy="471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ES" sz="1600" b="1">
                <a:latin typeface="Open Sans" panose="020B0606030504020204" pitchFamily="34" charset="0"/>
                <a:cs typeface="Open Sans" panose="020B0606030504020204" pitchFamily="34" charset="0"/>
              </a:rPr>
              <a:t>ANALYSIS AND DESIGN OF POWER CONVERTER TOPOLOGIES FOR ENERGY STORAGE </a:t>
            </a:r>
          </a:p>
          <a:p>
            <a:pPr lvl="1" eaLnBrk="1" hangingPunct="1"/>
            <a:r>
              <a:rPr lang="es-ES" altLang="es-ES" sz="1400">
                <a:latin typeface="Cabin" pitchFamily="2" charset="0"/>
              </a:rPr>
              <a:t>Design of power electronics converters with an emphasis of multiport topologies for energy storage applications </a:t>
            </a:r>
          </a:p>
          <a:p>
            <a:pPr eaLnBrk="1" hangingPunct="1"/>
            <a:endParaRPr lang="es-ES" altLang="es-ES" sz="1400">
              <a:latin typeface="Cabin" pitchFamily="2" charset="0"/>
            </a:endParaRPr>
          </a:p>
          <a:p>
            <a:pPr eaLnBrk="1" hangingPunct="1"/>
            <a:r>
              <a:rPr lang="es-ES" altLang="es-ES" sz="1600" b="1">
                <a:latin typeface="Open Sans" panose="020B0606030504020204" pitchFamily="34" charset="0"/>
                <a:cs typeface="Open Sans" panose="020B0606030504020204" pitchFamily="34" charset="0"/>
              </a:rPr>
              <a:t>DYNAMIC ANALYSIS AND CONTROL OF POWER CONVERTERS FOR DISTRIBUTED RESOURCES </a:t>
            </a:r>
          </a:p>
          <a:p>
            <a:pPr lvl="1" eaLnBrk="1" hangingPunct="1"/>
            <a:r>
              <a:rPr lang="es-ES" altLang="es-ES" sz="1400">
                <a:latin typeface="Cabin" pitchFamily="2" charset="0"/>
              </a:rPr>
              <a:t>High dynamic performance of power converters and microgrids by advanced control systems </a:t>
            </a:r>
          </a:p>
          <a:p>
            <a:pPr eaLnBrk="1" hangingPunct="1"/>
            <a:endParaRPr lang="es-ES" altLang="es-ES" sz="1400">
              <a:latin typeface="Cabin" pitchFamily="2" charset="0"/>
            </a:endParaRPr>
          </a:p>
          <a:p>
            <a:pPr eaLnBrk="1" hangingPunct="1"/>
            <a:r>
              <a:rPr lang="es-ES" altLang="es-ES" sz="1600" b="1">
                <a:latin typeface="Open Sans" panose="020B0606030504020204" pitchFamily="34" charset="0"/>
                <a:cs typeface="Open Sans" panose="020B0606030504020204" pitchFamily="34" charset="0"/>
              </a:rPr>
              <a:t>POWER FLOW ANALYSIS FOR HYBRID DC/AC GRIDS WITH HIGH PENETRATION OF DISTRIBUTED RESOURCES </a:t>
            </a:r>
          </a:p>
          <a:p>
            <a:pPr lvl="1" eaLnBrk="1" hangingPunct="1"/>
            <a:r>
              <a:rPr lang="es-ES" altLang="es-ES" sz="1400">
                <a:latin typeface="Cabin" pitchFamily="2" charset="0"/>
              </a:rPr>
              <a:t>Impact of the integration of distributed resources in the electrical grid </a:t>
            </a:r>
          </a:p>
          <a:p>
            <a:pPr eaLnBrk="1" hangingPunct="1"/>
            <a:endParaRPr lang="es-ES" altLang="es-ES" sz="1400">
              <a:latin typeface="Cabin" pitchFamily="2" charset="0"/>
            </a:endParaRPr>
          </a:p>
          <a:p>
            <a:pPr eaLnBrk="1" hangingPunct="1"/>
            <a:r>
              <a:rPr lang="es-ES" altLang="es-ES" sz="1600" b="1">
                <a:latin typeface="Open Sans" panose="020B0606030504020204" pitchFamily="34" charset="0"/>
                <a:cs typeface="Open Sans" panose="020B0606030504020204" pitchFamily="34" charset="0"/>
              </a:rPr>
              <a:t>ENERGY DEMAND ANALYSIS AND VISUALIZATION </a:t>
            </a:r>
          </a:p>
          <a:p>
            <a:pPr lvl="1" eaLnBrk="1" hangingPunct="1"/>
            <a:r>
              <a:rPr lang="es-ES" altLang="es-ES" sz="1400">
                <a:latin typeface="Cabin" pitchFamily="2" charset="0"/>
              </a:rPr>
              <a:t>Analytic tools and visualization strategies for energy planning </a:t>
            </a:r>
          </a:p>
          <a:p>
            <a:pPr eaLnBrk="1" hangingPunct="1"/>
            <a:endParaRPr lang="es-ES" altLang="es-ES" sz="1400">
              <a:latin typeface="Cabin" pitchFamily="2" charset="0"/>
            </a:endParaRPr>
          </a:p>
          <a:p>
            <a:pPr eaLnBrk="1" hangingPunct="1"/>
            <a:r>
              <a:rPr lang="es-ES" altLang="es-ES" sz="1600" b="1">
                <a:latin typeface="Open Sans" panose="020B0606030504020204" pitchFamily="34" charset="0"/>
                <a:cs typeface="Open Sans" panose="020B0606030504020204" pitchFamily="34" charset="0"/>
              </a:rPr>
              <a:t>APPLICATIONS</a:t>
            </a:r>
            <a:r>
              <a:rPr lang="es-ES" altLang="es-ES" sz="1400">
                <a:latin typeface="Cabin" pitchFamily="2" charset="0"/>
              </a:rPr>
              <a:t> </a:t>
            </a:r>
          </a:p>
          <a:p>
            <a:pPr lvl="1" eaLnBrk="1" hangingPunct="1"/>
            <a:r>
              <a:rPr lang="es-ES" altLang="es-ES" sz="1400">
                <a:latin typeface="Cabin" pitchFamily="2" charset="0"/>
              </a:rPr>
              <a:t>Industrial applications and knowledge transfer </a:t>
            </a:r>
          </a:p>
          <a:p>
            <a:pPr eaLnBrk="1" hangingPunct="1"/>
            <a:endParaRPr lang="en-GB" alt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48A2B4F-64EB-6C41-BC10-98F2FA13B8DD}"/>
              </a:ext>
            </a:extLst>
          </p:cNvPr>
          <p:cNvSpPr/>
          <p:nvPr/>
        </p:nvSpPr>
        <p:spPr>
          <a:xfrm>
            <a:off x="3959225" y="1563688"/>
            <a:ext cx="292100" cy="46037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36DAC0A-0D63-CC42-90E6-6F35343574CE}"/>
              </a:ext>
            </a:extLst>
          </p:cNvPr>
          <p:cNvSpPr/>
          <p:nvPr/>
        </p:nvSpPr>
        <p:spPr>
          <a:xfrm>
            <a:off x="3959225" y="2670175"/>
            <a:ext cx="292100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AC72E53-7808-8C46-95F3-685737430258}"/>
              </a:ext>
            </a:extLst>
          </p:cNvPr>
          <p:cNvSpPr/>
          <p:nvPr/>
        </p:nvSpPr>
        <p:spPr>
          <a:xfrm>
            <a:off x="3959225" y="3803650"/>
            <a:ext cx="292100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D52192D-C3AE-5E4D-8C94-6C23A53A6728}"/>
              </a:ext>
            </a:extLst>
          </p:cNvPr>
          <p:cNvSpPr/>
          <p:nvPr/>
        </p:nvSpPr>
        <p:spPr>
          <a:xfrm>
            <a:off x="3959225" y="4479925"/>
            <a:ext cx="292100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A1510A5-8CF1-F64C-AF37-D88839FBCCC9}"/>
              </a:ext>
            </a:extLst>
          </p:cNvPr>
          <p:cNvSpPr/>
          <p:nvPr/>
        </p:nvSpPr>
        <p:spPr>
          <a:xfrm>
            <a:off x="3959225" y="5129213"/>
            <a:ext cx="292100" cy="46037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pic>
        <p:nvPicPr>
          <p:cNvPr id="19" name="Imagen 5">
            <a:extLst>
              <a:ext uri="{FF2B5EF4-FFF2-40B4-BE49-F238E27FC236}">
                <a16:creationId xmlns:a16="http://schemas.microsoft.com/office/drawing/2014/main" id="{A24A3DB0-D8FE-BBB1-F420-60C2E13C7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E7165E5E-DFAF-3BAD-84CE-3F016C9F9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537922D-F825-4D47-9E94-D11A99E83262}"/>
              </a:ext>
            </a:extLst>
          </p:cNvPr>
          <p:cNvSpPr txBox="1"/>
          <p:nvPr/>
        </p:nvSpPr>
        <p:spPr>
          <a:xfrm>
            <a:off x="6573838" y="3227388"/>
            <a:ext cx="4876800" cy="1477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THANK YOU!</a:t>
            </a: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600" b="1" i="1" spc="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bin" pitchFamily="2" charset="77"/>
                <a:ea typeface="Open Sans Extrabold" panose="020B0606030504020204" pitchFamily="34" charset="0"/>
                <a:cs typeface="Open Sans Extrabold" panose="020B0606030504020204" pitchFamily="34" charset="0"/>
              </a:rPr>
              <a:t>Please</a:t>
            </a:r>
            <a:r>
              <a:rPr lang="es-ES" sz="3600" b="1" i="1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Cabin" pitchFamily="2" charset="77"/>
                <a:ea typeface="Open Sans Extrabold" panose="020B0606030504020204" pitchFamily="34" charset="0"/>
                <a:cs typeface="Open Sans Extrabold" panose="020B0606030504020204" pitchFamily="34" charset="0"/>
              </a:rPr>
              <a:t> </a:t>
            </a:r>
            <a:r>
              <a:rPr lang="es-ES" sz="3600" b="1" i="1" spc="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bin" pitchFamily="2" charset="77"/>
                <a:ea typeface="Open Sans Extrabold" panose="020B0606030504020204" pitchFamily="34" charset="0"/>
                <a:cs typeface="Open Sans Extrabold" panose="020B0606030504020204" pitchFamily="34" charset="0"/>
              </a:rPr>
              <a:t>get</a:t>
            </a:r>
            <a:r>
              <a:rPr lang="es-ES" sz="3600" b="1" i="1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Cabin" pitchFamily="2" charset="77"/>
                <a:ea typeface="Open Sans Extrabold" panose="020B0606030504020204" pitchFamily="34" charset="0"/>
                <a:cs typeface="Open Sans Extrabold" panose="020B0606030504020204" pitchFamily="34" charset="0"/>
              </a:rPr>
              <a:t> in </a:t>
            </a:r>
            <a:r>
              <a:rPr lang="es-ES" sz="3600" b="1" i="1" spc="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bin" pitchFamily="2" charset="77"/>
                <a:ea typeface="Open Sans Extrabold" panose="020B0606030504020204" pitchFamily="34" charset="0"/>
                <a:cs typeface="Open Sans Extrabold" panose="020B0606030504020204" pitchFamily="34" charset="0"/>
              </a:rPr>
              <a:t>touch</a:t>
            </a:r>
            <a:r>
              <a:rPr lang="es-ES" sz="3600" b="1" i="1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Cabin" pitchFamily="2" charset="77"/>
                <a:ea typeface="Open Sans Extrabold" panose="020B0606030504020204" pitchFamily="34" charset="0"/>
                <a:cs typeface="Open Sans Extrabold" panose="020B0606030504020204" pitchFamily="34" charset="0"/>
              </a:rPr>
              <a:t>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latin typeface="Cabin Regular" pitchFamily="2" charset="77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347AB1D-F527-5647-A666-16E90F06B9BC}"/>
              </a:ext>
            </a:extLst>
          </p:cNvPr>
          <p:cNvSpPr/>
          <p:nvPr/>
        </p:nvSpPr>
        <p:spPr>
          <a:xfrm flipV="1">
            <a:off x="9559925" y="4579938"/>
            <a:ext cx="1751013" cy="46037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pic>
        <p:nvPicPr>
          <p:cNvPr id="110595" name="Imagen 6">
            <a:extLst>
              <a:ext uri="{FF2B5EF4-FFF2-40B4-BE49-F238E27FC236}">
                <a16:creationId xmlns:a16="http://schemas.microsoft.com/office/drawing/2014/main" id="{415F2041-1FEE-9D64-AC58-D1B776087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4488" y="1995488"/>
            <a:ext cx="1220787" cy="120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E860FD6-9DB1-88DC-2DE7-9E852476A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EE8C-9BC8-4092-9420-3642836EC31C}" type="slidenum">
              <a:rPr lang="es-ES" altLang="es-ES" smtClean="0"/>
              <a:pPr/>
              <a:t>29</a:t>
            </a:fld>
            <a:endParaRPr lang="es-ES" alt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kerlan_Lemur" id="{8D517BEA-D79C-FB42-9E37-31EAC92D46F8}" vid="{E7E306BE-2CEC-8B4E-A1B8-4D3C7ABF9EC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3B546F8B429F441AB517FD40C7758B9" ma:contentTypeVersion="9" ma:contentTypeDescription="Crear nuevo documento." ma:contentTypeScope="" ma:versionID="befdb5c2a76d165b7963a9516cf1ff49">
  <xsd:schema xmlns:xsd="http://www.w3.org/2001/XMLSchema" xmlns:xs="http://www.w3.org/2001/XMLSchema" xmlns:p="http://schemas.microsoft.com/office/2006/metadata/properties" xmlns:ns2="2711c295-d9dc-4290-94d2-434158111b76" targetNamespace="http://schemas.microsoft.com/office/2006/metadata/properties" ma:root="true" ma:fieldsID="ca2b8862da53eb6a9ce780760509eba3" ns2:_="">
    <xsd:import namespace="2711c295-d9dc-4290-94d2-434158111b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11c295-d9dc-4290-94d2-434158111b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16D57E5-64C1-4DFF-BAE4-F891A5313303}">
  <ds:schemaRefs>
    <ds:schemaRef ds:uri="2711c295-d9dc-4290-94d2-434158111b7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9347A6E-B2D6-4CDD-A77A-DC57154271F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8980</TotalTime>
  <Words>1746</Words>
  <Application>Microsoft Macintosh PowerPoint</Application>
  <PresentationFormat>Widescreen</PresentationFormat>
  <Paragraphs>285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Cabin</vt:lpstr>
      <vt:lpstr>Cabin Regular</vt:lpstr>
      <vt:lpstr>Calibri</vt:lpstr>
      <vt:lpstr>MajritTx</vt:lpstr>
      <vt:lpstr>Open Sans</vt:lpstr>
      <vt:lpstr>Open Sans Extrabold</vt:lpstr>
      <vt:lpstr>Wingdings</vt:lpstr>
      <vt:lpstr>Tema de Office</vt:lpstr>
      <vt:lpstr>PowerPoint Presentation</vt:lpstr>
      <vt:lpstr>Disclaimers</vt:lpstr>
      <vt:lpstr>PowerPoint Presentation</vt:lpstr>
      <vt:lpstr>PowerPoint Presentation</vt:lpstr>
      <vt:lpstr>Overview of European grid Frequencies just before the Blackout</vt:lpstr>
      <vt:lpstr>Early Oscillations hint at Instability</vt:lpstr>
      <vt:lpstr>Oscillations Worsen Rapidly ~ 12:20pm</vt:lpstr>
      <vt:lpstr>Observing Spurious Oscillations</vt:lpstr>
      <vt:lpstr>Market Change at 12:30pm – No Problem</vt:lpstr>
      <vt:lpstr>Disconnections and Separation</vt:lpstr>
      <vt:lpstr>Frequency is consistently to fast all morning</vt:lpstr>
      <vt:lpstr>PowerPoint Presentation</vt:lpstr>
      <vt:lpstr>Rocof Overview</vt:lpstr>
      <vt:lpstr>Rocof stayed within limits</vt:lpstr>
      <vt:lpstr>PowerPoint Presentation</vt:lpstr>
      <vt:lpstr>Generation MIX on April 28, 2025</vt:lpstr>
      <vt:lpstr>Inertia Estimation Methods – 1 of 2</vt:lpstr>
      <vt:lpstr>Inertia Estimation Methods – 2 of 2</vt:lpstr>
      <vt:lpstr>Minimum Inertia Estimates for April 28, 2025</vt:lpstr>
      <vt:lpstr>PowerPoint Presentation</vt:lpstr>
      <vt:lpstr>PowerPoint Presentation</vt:lpstr>
      <vt:lpstr>Connections with France</vt:lpstr>
      <vt:lpstr>Exports to France were below average</vt:lpstr>
      <vt:lpstr>Conclusions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LEMUR</dc:title>
  <dc:subject/>
  <dc:creator>LEMUR, Universidad de Oviedo</dc:creator>
  <cp:keywords/>
  <dc:description/>
  <cp:lastModifiedBy>Bryan M</cp:lastModifiedBy>
  <cp:revision>142</cp:revision>
  <cp:lastPrinted>2020-06-11T17:59:51Z</cp:lastPrinted>
  <dcterms:created xsi:type="dcterms:W3CDTF">2020-05-07T12:55:32Z</dcterms:created>
  <dcterms:modified xsi:type="dcterms:W3CDTF">2025-06-19T11:54:15Z</dcterms:modified>
  <cp:category/>
</cp:coreProperties>
</file>