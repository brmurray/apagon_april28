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3"/>
  </p:sldMasterIdLst>
  <p:notesMasterIdLst>
    <p:notesMasterId r:id="rId33"/>
  </p:notesMasterIdLst>
  <p:sldIdLst>
    <p:sldId id="256" r:id="rId4"/>
    <p:sldId id="373" r:id="rId5"/>
    <p:sldId id="259" r:id="rId6"/>
    <p:sldId id="355" r:id="rId7"/>
    <p:sldId id="357" r:id="rId8"/>
    <p:sldId id="358" r:id="rId9"/>
    <p:sldId id="359" r:id="rId10"/>
    <p:sldId id="362" r:id="rId11"/>
    <p:sldId id="360" r:id="rId12"/>
    <p:sldId id="361" r:id="rId13"/>
    <p:sldId id="363" r:id="rId14"/>
    <p:sldId id="333" r:id="rId15"/>
    <p:sldId id="365" r:id="rId16"/>
    <p:sldId id="364" r:id="rId17"/>
    <p:sldId id="337" r:id="rId18"/>
    <p:sldId id="366" r:id="rId19"/>
    <p:sldId id="367" r:id="rId20"/>
    <p:sldId id="375" r:id="rId21"/>
    <p:sldId id="374" r:id="rId22"/>
    <p:sldId id="342" r:id="rId23"/>
    <p:sldId id="369" r:id="rId24"/>
    <p:sldId id="370" r:id="rId25"/>
    <p:sldId id="371" r:id="rId26"/>
    <p:sldId id="372" r:id="rId27"/>
    <p:sldId id="334" r:id="rId28"/>
    <p:sldId id="260" r:id="rId29"/>
    <p:sldId id="261" r:id="rId30"/>
    <p:sldId id="311" r:id="rId31"/>
    <p:sldId id="310" r:id="rId32"/>
  </p:sldIdLst>
  <p:sldSz cx="12192000" cy="6858000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28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94748"/>
  </p:normalViewPr>
  <p:slideViewPr>
    <p:cSldViewPr snapToGrid="0">
      <p:cViewPr varScale="1">
        <p:scale>
          <a:sx n="152" d="100"/>
          <a:sy n="152" d="100"/>
        </p:scale>
        <p:origin x="74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BA5D8AD-900F-D197-12C8-E4B60E890E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519E03-C335-6993-B935-6F5FB88112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Cabin Regular" pitchFamily="2" charset="77"/>
              </a:defRPr>
            </a:lvl1pPr>
          </a:lstStyle>
          <a:p>
            <a:pPr>
              <a:defRPr/>
            </a:pPr>
            <a:fld id="{26FF5496-C653-4F5C-8C3B-D0A136E01C4D}" type="datetimeFigureOut">
              <a:rPr lang="es-ES"/>
              <a:pPr>
                <a:defRPr/>
              </a:pPr>
              <a:t>31/5/25</a:t>
            </a:fld>
            <a:endParaRPr lang="es-ES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05AABC21-BB58-02DE-A3D0-D780752AA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801595BF-66F8-658E-0FBC-60A4C6B5C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2FF23B-D46C-3045-BD3E-F97B0030A7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EF75CA-6AEA-F76A-8E23-15022A971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bin Regular" pitchFamily="2" charset="0"/>
              </a:defRPr>
            </a:lvl1pPr>
          </a:lstStyle>
          <a:p>
            <a:fld id="{6CFC04C1-04CD-4A82-95B9-D86864B7192A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bin Regular" pitchFamily="2" charset="77"/>
        <a:ea typeface="+mn-ea"/>
        <a:cs typeface="+mn-cs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Marcador de imagen de diapositiva 1">
            <a:extLst>
              <a:ext uri="{FF2B5EF4-FFF2-40B4-BE49-F238E27FC236}">
                <a16:creationId xmlns:a16="http://schemas.microsoft.com/office/drawing/2014/main" id="{43ECC536-6D7D-F8D7-7555-374B4E212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Marcador de notas 2">
            <a:extLst>
              <a:ext uri="{FF2B5EF4-FFF2-40B4-BE49-F238E27FC236}">
                <a16:creationId xmlns:a16="http://schemas.microsoft.com/office/drawing/2014/main" id="{0D30D29B-DC12-790D-F056-EAB009119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>
              <a:latin typeface="Cabin Regular" pitchFamily="2" charset="0"/>
            </a:endParaRPr>
          </a:p>
        </p:txBody>
      </p:sp>
      <p:sp>
        <p:nvSpPr>
          <p:cNvPr id="51203" name="Marcador de número de diapositiva 3">
            <a:extLst>
              <a:ext uri="{FF2B5EF4-FFF2-40B4-BE49-F238E27FC236}">
                <a16:creationId xmlns:a16="http://schemas.microsoft.com/office/drawing/2014/main" id="{7C5DBEF3-513A-FCE3-E627-BB9B4CFCB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68447E3-4684-4C46-B953-B396AAB1B1D8}" type="slidenum">
              <a:rPr lang="es-ES" altLang="es-ES">
                <a:latin typeface="Cabin Regular" pitchFamily="2" charset="0"/>
              </a:rPr>
              <a:pPr/>
              <a:t>1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Marcador de imagen de diapositiva 1">
            <a:extLst>
              <a:ext uri="{FF2B5EF4-FFF2-40B4-BE49-F238E27FC236}">
                <a16:creationId xmlns:a16="http://schemas.microsoft.com/office/drawing/2014/main" id="{7EFDDCBA-CBA0-5C54-3092-7A94A17C63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0" name="Marcador de notas 2">
            <a:extLst>
              <a:ext uri="{FF2B5EF4-FFF2-40B4-BE49-F238E27FC236}">
                <a16:creationId xmlns:a16="http://schemas.microsoft.com/office/drawing/2014/main" id="{C2213D4E-7BCA-D447-4109-DA7878A97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s-ES">
              <a:latin typeface="Cabin Regular" pitchFamily="2" charset="0"/>
            </a:endParaRPr>
          </a:p>
        </p:txBody>
      </p:sp>
      <p:sp>
        <p:nvSpPr>
          <p:cNvPr id="58371" name="Marcador de número de diapositiva 3">
            <a:extLst>
              <a:ext uri="{FF2B5EF4-FFF2-40B4-BE49-F238E27FC236}">
                <a16:creationId xmlns:a16="http://schemas.microsoft.com/office/drawing/2014/main" id="{F233679E-6250-271C-4E7E-AAEED88F0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1E47D7E-BBE1-4DFA-AF7E-CFD9BC6BD159}" type="slidenum">
              <a:rPr lang="es-ES" altLang="es-ES">
                <a:latin typeface="Cabin Regular" pitchFamily="2" charset="0"/>
              </a:rPr>
              <a:pPr/>
              <a:t>28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28FD5-81A3-3B4B-9EE3-955C51D4B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C80B2D-5C78-584C-8000-7E3A5C2D1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8F368-1C95-B706-8D3C-19F78930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4E9E0-B3F9-4104-BB39-F8E96513EFFE}" type="datetime1">
              <a:rPr lang="es-ES" smtClean="0"/>
              <a:t>31/5/25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1F553-2997-FF51-C6E5-983C0619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299B9F-0F2C-1987-61A8-A63DAC59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E8A5F1-A569-4BCF-B344-5DBBFBE7658F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3303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4F90B-4DAA-3741-9C3E-37944D5AD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173"/>
            <a:ext cx="10515600" cy="4930790"/>
          </a:xfrm>
        </p:spPr>
        <p:txBody>
          <a:bodyPr/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25D70D-50E5-0943-AB0E-C03E7F15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36" y="136525"/>
            <a:ext cx="10104672" cy="745507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4D4A1B-A26B-3CE1-0D8F-BCA15506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27812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61817-F231-4105-ACC8-75380DF33C1E}" type="datetime1">
              <a:rPr lang="es-ES" smtClean="0"/>
              <a:t>31/5/25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FDEDB9-AB75-C88C-A13B-2EED1C5A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7814"/>
            <a:ext cx="41148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F29034-E4C6-8D77-2EFF-E0FC6720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7813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fld id="{D86B3D54-5C84-4380-B90C-31F636633DA2}" type="slidenum">
              <a:rPr lang="es-ES" altLang="es-ES"/>
              <a:pPr/>
              <a:t>‹#›</a:t>
            </a:fld>
            <a:endParaRPr lang="es-ES" altLang="es-ES"/>
          </a:p>
        </p:txBody>
      </p:sp>
      <p:pic>
        <p:nvPicPr>
          <p:cNvPr id="8" name="Imagen 5">
            <a:extLst>
              <a:ext uri="{FF2B5EF4-FFF2-40B4-BE49-F238E27FC236}">
                <a16:creationId xmlns:a16="http://schemas.microsoft.com/office/drawing/2014/main" id="{21ABD7B5-94A9-AF58-CC5C-D952C79FDB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908" y="136525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B8F6A76-4A25-1AA1-FA23-954B34AFDB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525"/>
            <a:ext cx="1028353" cy="75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85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3A3CE-8DE4-1440-8E69-D284A3AD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691E4C-C54D-6349-B7CD-B42565BF1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77DF65-7283-E176-F8F9-24389E07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3D45C-A159-4290-849D-4C55782B747E}" type="datetime1">
              <a:rPr lang="es-ES" smtClean="0"/>
              <a:t>31/5/25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D6ED9-01EE-8B1C-6253-1B1FC367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10AB2C-36C6-8263-22A9-BA7A7BAC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C3CBC-8809-4872-8192-673FF665A665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4909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4D247-396A-0240-81CE-37DC1000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0F415-57A1-E04A-A0BB-F7036FB2D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4AD9F9-9943-1C46-BBA3-7E8D90893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2421A-790B-EC73-4127-F73EC7D8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8C649-08CF-4E01-8905-C809A36F6021}" type="datetime1">
              <a:rPr lang="es-ES" smtClean="0"/>
              <a:t>31/5/25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08DC9-F434-0936-C244-C9AA10E1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FA91D1-23E7-DB82-4D54-2CA1ED93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01B5A-A9A3-4764-8C9B-2063BF483240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3111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5699-9F02-4144-8D20-29363169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4881B-1B91-5946-912E-3109763A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B2F5C-AF28-144A-B402-603FF2169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BCFADD-9647-7946-A244-9FCC169A2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691073-641D-384B-BED4-0FC349CE1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F6A4F7-A233-B1BD-9CD1-5395E168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FE5C1-FFDC-425F-A1F2-1672BC227ACA}" type="datetime1">
              <a:rPr lang="es-ES" smtClean="0"/>
              <a:t>31/5/25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F95118-BB05-BF00-8AEF-7086AF7F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4DAF7B-8451-A4FF-2AA1-1A7D6115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AA730-BA38-49CE-901A-01093876036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1814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939C5-C25D-D541-887D-D73644E8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FCC31C-694E-A70D-17CF-FAA6F650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AD619-8BAB-49A3-B0CE-2A9D98840EB9}" type="datetime1">
              <a:rPr lang="es-ES" smtClean="0"/>
              <a:t>31/5/25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F71F3C-4963-6B6E-A7D9-5B013418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D50CF-741D-6A57-198A-2C04CD4D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AD2B0E-41EF-4821-AC9E-23829B4CE29B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9523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68C1F4-1A93-9CCC-8BD8-7D552684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459DC-3678-4699-A046-149B616B5321}" type="datetime1">
              <a:rPr lang="es-ES" smtClean="0"/>
              <a:t>31/5/25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6A0359-FD98-4C2A-8E6A-89449188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E24AE9-0BFC-77CA-0F13-BF7CABA7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BEE8C-9BC8-4092-9420-3642836EC31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7272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02807-A8AF-B144-B12C-AFE0045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81993-CBB6-5545-BE79-6EBF173E3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1E3EF6-C7FA-F24A-9E74-F5F189CD8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79EF1F-15C3-96F9-81FA-C4D45AF4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7841-9C7B-4697-A49A-0D2556730D1A}" type="datetime1">
              <a:rPr lang="es-ES" smtClean="0"/>
              <a:t>31/5/25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85B21-D622-8C73-4F21-345BDF58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75135F-DEB5-463E-A766-12D536C1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E97CD-8D8D-489F-AF0B-9C71FB7F20F9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3156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0FC78-1A94-CA4F-956C-2D54828B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A04C5A-5825-5B4B-AE0D-F4AF9FF04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97C2EB-CA16-EC41-B29B-51D433672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F58460-C914-3CCB-7F49-654A16B9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2BDBA-CD70-4054-9E2A-88A88D237B78}" type="datetime1">
              <a:rPr lang="es-ES" smtClean="0"/>
              <a:t>31/5/25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E31933-4C4E-BE0A-10D8-BAC156FD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20AC-9940-576F-02DF-A8340909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694BA-4FEE-46DB-BB16-F634701BE9FD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6996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80427-219A-8047-BFB3-7832C47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23888-1CCA-F74A-B710-1CD70CBC1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8B0AB5-4C95-A9CF-93BC-0CA07FB1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F384E-2141-45FA-86B8-4035FECD32BB}" type="datetime1">
              <a:rPr lang="es-ES" smtClean="0"/>
              <a:t>31/5/25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823C3B-0208-2093-C378-B5EF75D5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39CDB-861A-E158-B1AB-16A66A51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57C7D6-2141-4D62-877D-3E2CE92B268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934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F2380C-E6CB-6644-B995-2C0E83F9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19E8F4-7520-1E46-ADED-3A4F71AC6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D4F69-07A0-AB91-ECDE-39A969A7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4F67A-A11F-44C2-A1E8-90455DDFC625}" type="datetime1">
              <a:rPr lang="es-ES" smtClean="0"/>
              <a:t>31/5/25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3B7A33-9F25-5FFB-5C17-939342FC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8E88CF-9AA3-105D-8958-A28E5330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C34C1-886F-4D38-938C-93DBF1477AA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8947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799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E509A8-BF6D-9E47-817D-688D81DD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6867" name="Marcador de texto 2">
            <a:extLst>
              <a:ext uri="{FF2B5EF4-FFF2-40B4-BE49-F238E27FC236}">
                <a16:creationId xmlns:a16="http://schemas.microsoft.com/office/drawing/2014/main" id="{85E673B9-01A9-7CBE-D19E-56FE0E15D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FD56A1-564E-F949-BA27-3C057E993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fld id="{7BAEFEA7-FA12-4EE1-A405-B5F3690C8AD7}" type="datetime1">
              <a:rPr lang="es-ES" smtClean="0"/>
              <a:t>31/5/25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042B4-BA0A-E54B-ABC9-40418A619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9D838A-4A3C-BD40-A14E-744D3D115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bin Regular" pitchFamily="2" charset="0"/>
              </a:defRPr>
            </a:lvl1pPr>
          </a:lstStyle>
          <a:p>
            <a:fld id="{E21DC4EC-5AFD-4ECA-9B8D-B24FBA450EDF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Cabin" pitchFamily="2" charset="77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 Regular" pitchFamily="2" charset="77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pais.com/clima-y-medio-ambiente/2025-05-02/que-causo-el-apagon-explicacion-visual-y-breve-de-lo-que-sabemo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LaHoraTVE/status/1919286051027275974?t=55UOqNopqfkKa-d9M57FBg&amp;s=08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periodicodelaenergia.com/dos-centrales-de-generacion-electrica-desconectadas-posible-causa-del-apagon-en-espana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Network%20codes%20documents/NC%20RfG/IGD_RoCoF_withstand_capability_final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tsoe.eu/2025/01/23/entso-e-releases-the-latest-work-from-project-inertia-which-studies-the-evolution-of-the-inertia-levels-in-the-long-term-horizons-in-the-continental-europe-synchronous-area-and-the-challenges-emerging-from-their-decreas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eepublicdownloads.entsoe.eu/clean-documents/SOC%20documents/Inertia%20and%20RoCoF_v17_clean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SOC%20documents/Inertia%20and%20RoCoF_v17_clean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soe.eu/data/map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garciafpablo@uniovi.e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upo 29">
            <a:extLst>
              <a:ext uri="{FF2B5EF4-FFF2-40B4-BE49-F238E27FC236}">
                <a16:creationId xmlns:a16="http://schemas.microsoft.com/office/drawing/2014/main" id="{5DC4880B-E641-8A7F-E2A5-EABD153606CA}"/>
              </a:ext>
            </a:extLst>
          </p:cNvPr>
          <p:cNvGrpSpPr>
            <a:grpSpLocks/>
          </p:cNvGrpSpPr>
          <p:nvPr/>
        </p:nvGrpSpPr>
        <p:grpSpPr bwMode="auto">
          <a:xfrm>
            <a:off x="133350" y="2024063"/>
            <a:ext cx="11857038" cy="349250"/>
            <a:chOff x="133564" y="2383604"/>
            <a:chExt cx="11856362" cy="349322"/>
          </a:xfrm>
        </p:grpSpPr>
        <p:sp>
          <p:nvSpPr>
            <p:cNvPr id="7" name="Paralelogramo 6">
              <a:extLst>
                <a:ext uri="{FF2B5EF4-FFF2-40B4-BE49-F238E27FC236}">
                  <a16:creationId xmlns:a16="http://schemas.microsoft.com/office/drawing/2014/main" id="{56F46D9E-9C2D-1A43-8888-044DF871EF5B}"/>
                </a:ext>
              </a:extLst>
            </p:cNvPr>
            <p:cNvSpPr/>
            <p:nvPr/>
          </p:nvSpPr>
          <p:spPr>
            <a:xfrm>
              <a:off x="133564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760FDF85-6A7E-ED41-A695-389FB24CEB46}"/>
                </a:ext>
              </a:extLst>
            </p:cNvPr>
            <p:cNvSpPr/>
            <p:nvPr/>
          </p:nvSpPr>
          <p:spPr>
            <a:xfrm>
              <a:off x="708206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2EFD06AC-CE98-6E40-BE78-CC174C1580E3}"/>
                </a:ext>
              </a:extLst>
            </p:cNvPr>
            <p:cNvSpPr/>
            <p:nvPr/>
          </p:nvSpPr>
          <p:spPr>
            <a:xfrm>
              <a:off x="1284436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2" name="Paralelogramo 11">
              <a:extLst>
                <a:ext uri="{FF2B5EF4-FFF2-40B4-BE49-F238E27FC236}">
                  <a16:creationId xmlns:a16="http://schemas.microsoft.com/office/drawing/2014/main" id="{BD49762B-AE25-E146-BB9E-8DD450A71383}"/>
                </a:ext>
              </a:extLst>
            </p:cNvPr>
            <p:cNvSpPr/>
            <p:nvPr/>
          </p:nvSpPr>
          <p:spPr>
            <a:xfrm>
              <a:off x="185907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3" name="Paralelogramo 12">
              <a:extLst>
                <a:ext uri="{FF2B5EF4-FFF2-40B4-BE49-F238E27FC236}">
                  <a16:creationId xmlns:a16="http://schemas.microsoft.com/office/drawing/2014/main" id="{06C07069-724F-554A-99E7-102C6BF1A9E5}"/>
                </a:ext>
              </a:extLst>
            </p:cNvPr>
            <p:cNvSpPr/>
            <p:nvPr/>
          </p:nvSpPr>
          <p:spPr>
            <a:xfrm>
              <a:off x="243530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4" name="Paralelogramo 13">
              <a:extLst>
                <a:ext uri="{FF2B5EF4-FFF2-40B4-BE49-F238E27FC236}">
                  <a16:creationId xmlns:a16="http://schemas.microsoft.com/office/drawing/2014/main" id="{C2FFFD3A-E8C3-0942-9B5E-FFFB1A5E5F08}"/>
                </a:ext>
              </a:extLst>
            </p:cNvPr>
            <p:cNvSpPr/>
            <p:nvPr/>
          </p:nvSpPr>
          <p:spPr>
            <a:xfrm>
              <a:off x="300995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5" name="Paralelogramo 14">
              <a:extLst>
                <a:ext uri="{FF2B5EF4-FFF2-40B4-BE49-F238E27FC236}">
                  <a16:creationId xmlns:a16="http://schemas.microsoft.com/office/drawing/2014/main" id="{2FC786AE-4CE5-B845-AE05-7554A0847D98}"/>
                </a:ext>
              </a:extLst>
            </p:cNvPr>
            <p:cNvSpPr/>
            <p:nvPr/>
          </p:nvSpPr>
          <p:spPr>
            <a:xfrm>
              <a:off x="3586180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6" name="Paralelogramo 15">
              <a:extLst>
                <a:ext uri="{FF2B5EF4-FFF2-40B4-BE49-F238E27FC236}">
                  <a16:creationId xmlns:a16="http://schemas.microsoft.com/office/drawing/2014/main" id="{0A40CEE6-477A-274E-B9AB-A937F43981D7}"/>
                </a:ext>
              </a:extLst>
            </p:cNvPr>
            <p:cNvSpPr/>
            <p:nvPr/>
          </p:nvSpPr>
          <p:spPr>
            <a:xfrm>
              <a:off x="4160822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7" name="Paralelogramo 16">
              <a:extLst>
                <a:ext uri="{FF2B5EF4-FFF2-40B4-BE49-F238E27FC236}">
                  <a16:creationId xmlns:a16="http://schemas.microsoft.com/office/drawing/2014/main" id="{6B4C58FA-180D-934E-9CB1-749539ECEA3C}"/>
                </a:ext>
              </a:extLst>
            </p:cNvPr>
            <p:cNvSpPr/>
            <p:nvPr/>
          </p:nvSpPr>
          <p:spPr>
            <a:xfrm>
              <a:off x="7542005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8" name="Paralelogramo 17">
              <a:extLst>
                <a:ext uri="{FF2B5EF4-FFF2-40B4-BE49-F238E27FC236}">
                  <a16:creationId xmlns:a16="http://schemas.microsoft.com/office/drawing/2014/main" id="{D1CCF648-2D08-5545-B694-0569A18C544C}"/>
                </a:ext>
              </a:extLst>
            </p:cNvPr>
            <p:cNvSpPr/>
            <p:nvPr/>
          </p:nvSpPr>
          <p:spPr>
            <a:xfrm>
              <a:off x="8116647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9" name="Paralelogramo 18">
              <a:extLst>
                <a:ext uri="{FF2B5EF4-FFF2-40B4-BE49-F238E27FC236}">
                  <a16:creationId xmlns:a16="http://schemas.microsoft.com/office/drawing/2014/main" id="{D7E09A2D-DCD8-3045-87EE-F3DCF8EAF516}"/>
                </a:ext>
              </a:extLst>
            </p:cNvPr>
            <p:cNvSpPr/>
            <p:nvPr/>
          </p:nvSpPr>
          <p:spPr>
            <a:xfrm>
              <a:off x="869128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0" name="Paralelogramo 19">
              <a:extLst>
                <a:ext uri="{FF2B5EF4-FFF2-40B4-BE49-F238E27FC236}">
                  <a16:creationId xmlns:a16="http://schemas.microsoft.com/office/drawing/2014/main" id="{02CE0388-8321-8148-B46B-35C15E5B5F4B}"/>
                </a:ext>
              </a:extLst>
            </p:cNvPr>
            <p:cNvSpPr/>
            <p:nvPr/>
          </p:nvSpPr>
          <p:spPr>
            <a:xfrm>
              <a:off x="926751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1" name="Paralelogramo 20">
              <a:extLst>
                <a:ext uri="{FF2B5EF4-FFF2-40B4-BE49-F238E27FC236}">
                  <a16:creationId xmlns:a16="http://schemas.microsoft.com/office/drawing/2014/main" id="{9EC0B694-D3EB-2A49-8B03-A2CEE89748D6}"/>
                </a:ext>
              </a:extLst>
            </p:cNvPr>
            <p:cNvSpPr/>
            <p:nvPr/>
          </p:nvSpPr>
          <p:spPr>
            <a:xfrm>
              <a:off x="984216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2" name="Paralelogramo 21">
              <a:extLst>
                <a:ext uri="{FF2B5EF4-FFF2-40B4-BE49-F238E27FC236}">
                  <a16:creationId xmlns:a16="http://schemas.microsoft.com/office/drawing/2014/main" id="{43BCFA38-9DE4-2140-BD07-6476B705E3D1}"/>
                </a:ext>
              </a:extLst>
            </p:cNvPr>
            <p:cNvSpPr/>
            <p:nvPr/>
          </p:nvSpPr>
          <p:spPr>
            <a:xfrm>
              <a:off x="10418391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3" name="Paralelogramo 22">
              <a:extLst>
                <a:ext uri="{FF2B5EF4-FFF2-40B4-BE49-F238E27FC236}">
                  <a16:creationId xmlns:a16="http://schemas.microsoft.com/office/drawing/2014/main" id="{DEA16356-29C1-5D43-95BB-3BF3C0B75DDA}"/>
                </a:ext>
              </a:extLst>
            </p:cNvPr>
            <p:cNvSpPr/>
            <p:nvPr/>
          </p:nvSpPr>
          <p:spPr>
            <a:xfrm>
              <a:off x="10993033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4" name="Paralelogramo 23">
              <a:extLst>
                <a:ext uri="{FF2B5EF4-FFF2-40B4-BE49-F238E27FC236}">
                  <a16:creationId xmlns:a16="http://schemas.microsoft.com/office/drawing/2014/main" id="{F9E3F15F-71B2-BF41-965B-944376CAB09E}"/>
                </a:ext>
              </a:extLst>
            </p:cNvPr>
            <p:cNvSpPr/>
            <p:nvPr/>
          </p:nvSpPr>
          <p:spPr>
            <a:xfrm>
              <a:off x="11569262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</p:grpSp>
      <p:pic>
        <p:nvPicPr>
          <p:cNvPr id="50179" name="Imagen 25">
            <a:extLst>
              <a:ext uri="{FF2B5EF4-FFF2-40B4-BE49-F238E27FC236}">
                <a16:creationId xmlns:a16="http://schemas.microsoft.com/office/drawing/2014/main" id="{F814467B-C684-E419-734E-C1EE4C2F4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0" y="274638"/>
            <a:ext cx="180975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Imagen 28">
            <a:extLst>
              <a:ext uri="{FF2B5EF4-FFF2-40B4-BE49-F238E27FC236}">
                <a16:creationId xmlns:a16="http://schemas.microsoft.com/office/drawing/2014/main" id="{C9A62672-A14B-636A-D2E0-5215AD5A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34" y="390963"/>
            <a:ext cx="3475038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630A917-00DC-C544-9F3C-0F55598DEC52}"/>
              </a:ext>
            </a:extLst>
          </p:cNvPr>
          <p:cNvSpPr txBox="1"/>
          <p:nvPr/>
        </p:nvSpPr>
        <p:spPr>
          <a:xfrm>
            <a:off x="1292225" y="5764027"/>
            <a:ext cx="970915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b="1" dirty="0">
                <a:latin typeface="Open Sans Extrabold"/>
                <a:ea typeface="Open Sans Extrabold"/>
                <a:cs typeface="Open Sans Extrabold"/>
              </a:rPr>
              <a:t>LEMUR</a:t>
            </a:r>
            <a:r>
              <a:rPr lang="es-ES" dirty="0">
                <a:latin typeface="Open Sans"/>
                <a:ea typeface="Open Sans"/>
                <a:cs typeface="Open Sans"/>
              </a:rPr>
              <a:t>.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University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of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Oviedo</a:t>
            </a:r>
            <a:br>
              <a:rPr lang="es-E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dirty="0" err="1">
                <a:latin typeface="Cabin"/>
                <a:ea typeface="Open Sans"/>
                <a:cs typeface="Open Sans"/>
              </a:rPr>
              <a:t>Department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of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Electrical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Engineering</a:t>
            </a:r>
            <a:r>
              <a:rPr lang="es-ES" dirty="0">
                <a:latin typeface="Cabin"/>
                <a:ea typeface="Open Sans"/>
                <a:cs typeface="Open Sans"/>
              </a:rPr>
              <a:t> – lemur@uniovi.es </a:t>
            </a:r>
            <a:endParaRPr lang="es-ES" dirty="0"/>
          </a:p>
        </p:txBody>
      </p:sp>
      <p:sp>
        <p:nvSpPr>
          <p:cNvPr id="38" name="Marcador de número de diapositiva 37">
            <a:extLst>
              <a:ext uri="{FF2B5EF4-FFF2-40B4-BE49-F238E27FC236}">
                <a16:creationId xmlns:a16="http://schemas.microsoft.com/office/drawing/2014/main" id="{1C9AE21D-258A-3942-8207-AEFDB194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E451CD6-3528-4897-B5EF-44F054C4B69D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7A88981A-91D2-0B2B-48CA-3A28CC754594}"/>
              </a:ext>
            </a:extLst>
          </p:cNvPr>
          <p:cNvSpPr txBox="1"/>
          <p:nvPr/>
        </p:nvSpPr>
        <p:spPr>
          <a:xfrm>
            <a:off x="713618" y="4280365"/>
            <a:ext cx="1076476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200" kern="1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Apagón - April 28, 2025</a:t>
            </a:r>
            <a:endParaRPr lang="en-US" sz="3200" kern="100" dirty="0">
              <a:solidFill>
                <a:schemeClr val="tx2"/>
              </a:solidFill>
              <a:effectLst/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81CB0C-13F4-E16E-EF14-D8AA42F5F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338" y="1712365"/>
            <a:ext cx="2981325" cy="2676525"/>
          </a:xfrm>
          <a:prstGeom prst="rect">
            <a:avLst/>
          </a:prstGeom>
        </p:spPr>
      </p:pic>
      <p:sp>
        <p:nvSpPr>
          <p:cNvPr id="2" name="CuadroTexto 4">
            <a:extLst>
              <a:ext uri="{FF2B5EF4-FFF2-40B4-BE49-F238E27FC236}">
                <a16:creationId xmlns:a16="http://schemas.microsoft.com/office/drawing/2014/main" id="{69978582-A0E4-3481-CFD7-1F782E6F98E8}"/>
              </a:ext>
            </a:extLst>
          </p:cNvPr>
          <p:cNvSpPr txBox="1"/>
          <p:nvPr/>
        </p:nvSpPr>
        <p:spPr>
          <a:xfrm>
            <a:off x="3336746" y="4960640"/>
            <a:ext cx="5620107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2000" i="1" kern="100" dirty="0">
                <a:latin typeface="Calibri"/>
                <a:ea typeface="Calibri"/>
                <a:cs typeface="Calibri"/>
              </a:rPr>
              <a:t>Update: May 31, 2025</a:t>
            </a:r>
          </a:p>
          <a:p>
            <a:pPr algn="ctr"/>
            <a:r>
              <a:rPr lang="en-US" sz="2000" i="1" kern="100" dirty="0">
                <a:effectLst/>
                <a:latin typeface="Calibri"/>
                <a:ea typeface="Calibri"/>
                <a:cs typeface="Calibri"/>
              </a:rPr>
              <a:t>Authors: Bryan Murray, Dr. Pablo García Fernández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1DBB8C-AD21-ED4F-B03A-6A8540A4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67" y="1077615"/>
            <a:ext cx="7858666" cy="5171880"/>
          </a:xfrm>
        </p:spPr>
        <p:txBody>
          <a:bodyPr/>
          <a:lstStyle/>
          <a:p>
            <a:r>
              <a:rPr lang="en-US" sz="2400" dirty="0"/>
              <a:t>The authors* believe there are perfectly plausible technical explanations for the Iberian blackout of April 28, 2025. </a:t>
            </a:r>
          </a:p>
          <a:p>
            <a:r>
              <a:rPr lang="en-US" sz="2400" dirty="0"/>
              <a:t>The authors are focused on the technical explanations which can be justified with knowledge of the physical infrastructure. In other words, we are not considering cyber-attacks, human errors, or extraordinary meteorological conditions.</a:t>
            </a:r>
          </a:p>
          <a:p>
            <a:r>
              <a:rPr lang="en-US" sz="2400" dirty="0"/>
              <a:t>For now, we are simply presenting what data we have and will use as a basis for much more engineering analysis.</a:t>
            </a:r>
          </a:p>
          <a:p>
            <a:r>
              <a:rPr lang="en-US" sz="2400" dirty="0"/>
              <a:t>We are </a:t>
            </a:r>
            <a:r>
              <a:rPr lang="en-US" sz="2400" b="1" dirty="0">
                <a:solidFill>
                  <a:srgbClr val="FFC000"/>
                </a:solidFill>
              </a:rPr>
              <a:t>NOT</a:t>
            </a:r>
            <a:r>
              <a:rPr lang="en-US" sz="2400" dirty="0"/>
              <a:t> presenting conclusions about root causes.</a:t>
            </a:r>
          </a:p>
          <a:p>
            <a:r>
              <a:rPr lang="en-US" sz="2400" dirty="0"/>
              <a:t>Why? Because the authors currently lack critical data about the grid’s operational conditions on April 28;  for example, details about generators that were online but operating below rated power capacity.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914A79-B38B-912E-34C7-DAEB7851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EEC86-A400-1895-7E25-9CAAEFEB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00153-D3A0-EBDD-CBD0-CF0DCCC2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</a:t>
            </a:fld>
            <a:endParaRPr lang="es-ES" altLang="es-E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432E122-B67A-A98F-6916-D0B989B47D8C}"/>
              </a:ext>
            </a:extLst>
          </p:cNvPr>
          <p:cNvSpPr txBox="1">
            <a:spLocks/>
          </p:cNvSpPr>
          <p:nvPr/>
        </p:nvSpPr>
        <p:spPr bwMode="auto">
          <a:xfrm>
            <a:off x="8031192" y="1073645"/>
            <a:ext cx="3866074" cy="5171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bin Regular" pitchFamily="2" charset="77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400" dirty="0"/>
              <a:t>*Report Authors</a:t>
            </a:r>
            <a:endParaRPr lang="en-US" sz="2000" dirty="0"/>
          </a:p>
          <a:p>
            <a:pPr eaLnBrk="1" hangingPunct="1"/>
            <a:r>
              <a:rPr lang="en-US" sz="2000" dirty="0"/>
              <a:t>Lead Author:</a:t>
            </a:r>
          </a:p>
          <a:p>
            <a:pPr lvl="1" eaLnBrk="1" hangingPunct="1"/>
            <a:r>
              <a:rPr lang="en-US" sz="1600" dirty="0"/>
              <a:t>Bryan Murray, P.E. – PhD Candidate</a:t>
            </a:r>
          </a:p>
          <a:p>
            <a:pPr lvl="2" eaLnBrk="1" hangingPunct="1"/>
            <a:r>
              <a:rPr lang="en-US" sz="1200" dirty="0"/>
              <a:t>uo292264@uniovi.es</a:t>
            </a:r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Reviewer:</a:t>
            </a:r>
          </a:p>
          <a:p>
            <a:pPr lvl="1" eaLnBrk="1" hangingPunct="1"/>
            <a:r>
              <a:rPr lang="en-US" sz="1600" dirty="0"/>
              <a:t>Prof. Pablo García Fernández</a:t>
            </a:r>
          </a:p>
          <a:p>
            <a:pPr lvl="2" eaLnBrk="1" hangingPunct="1"/>
            <a:r>
              <a:rPr lang="en-US" sz="1200" dirty="0"/>
              <a:t>garciafpablo@uniovi.es</a:t>
            </a:r>
          </a:p>
        </p:txBody>
      </p:sp>
    </p:spTree>
    <p:extLst>
      <p:ext uri="{BB962C8B-B14F-4D97-AF65-F5344CB8AC3E}">
        <p14:creationId xmlns:p14="http://schemas.microsoft.com/office/powerpoint/2010/main" val="213594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CD27447-938C-1D4F-A13E-A918049DBB33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81A538-4502-C849-B5EB-B2587772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</a:t>
            </a:fld>
            <a:endParaRPr lang="es-ES" altLang="es-ES" dirty="0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8F31B9-0A67-1345-A83E-1E4677B7B375}"/>
              </a:ext>
            </a:extLst>
          </p:cNvPr>
          <p:cNvSpPr txBox="1"/>
          <p:nvPr/>
        </p:nvSpPr>
        <p:spPr>
          <a:xfrm>
            <a:off x="2252663" y="2787650"/>
            <a:ext cx="993933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Overview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April 28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AD965B-A7F3-D647-9ED4-6B326F5F609D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661414BE-8727-3677-7614-7CDE9CB8E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>
                <a:latin typeface="Cabin Regular" pitchFamily="2" charset="0"/>
              </a:rPr>
              <a:t> 1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D393AD2-965A-F706-94A3-89CB8C5E1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015ED87-37B4-C416-8137-4D15C18F7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7DED9-BA76-FE86-615C-EFDE8999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3DFD9-799F-CCD7-251D-15C026C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4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C7D2A-0DFE-DC92-42A4-51209F30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573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2A775-3D0E-CB36-FEAC-FD975E829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34" y="997735"/>
            <a:ext cx="6142666" cy="486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2FA848-226F-5C08-87E0-9E26A269E583}"/>
              </a:ext>
            </a:extLst>
          </p:cNvPr>
          <p:cNvSpPr txBox="1"/>
          <p:nvPr/>
        </p:nvSpPr>
        <p:spPr>
          <a:xfrm>
            <a:off x="6964311" y="6554157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4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123059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EADA88-357A-E3D9-CE12-AE405940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46978" y="1056112"/>
            <a:ext cx="10686182" cy="53430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6625E4-DA40-AA1C-E793-8E8769D28832}"/>
              </a:ext>
            </a:extLst>
          </p:cNvPr>
          <p:cNvSpPr/>
          <p:nvPr/>
        </p:nvSpPr>
        <p:spPr>
          <a:xfrm>
            <a:off x="4039933" y="2593526"/>
            <a:ext cx="1008404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2D889E-2EE4-E541-BBFA-D59E9CDCF2DD}"/>
              </a:ext>
            </a:extLst>
          </p:cNvPr>
          <p:cNvCxnSpPr>
            <a:cxnSpLocks/>
          </p:cNvCxnSpPr>
          <p:nvPr/>
        </p:nvCxnSpPr>
        <p:spPr>
          <a:xfrm flipH="1" flipV="1">
            <a:off x="4544135" y="3570191"/>
            <a:ext cx="73352" cy="63655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D429CC-4DA6-03D9-D9DF-69BA40519AC5}"/>
              </a:ext>
            </a:extLst>
          </p:cNvPr>
          <p:cNvSpPr txBox="1"/>
          <p:nvPr/>
        </p:nvSpPr>
        <p:spPr>
          <a:xfrm>
            <a:off x="3446713" y="4190390"/>
            <a:ext cx="226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Bigger Oscillations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917621-3519-05A9-007D-52EAA576B08A}"/>
              </a:ext>
            </a:extLst>
          </p:cNvPr>
          <p:cNvCxnSpPr>
            <a:cxnSpLocks/>
          </p:cNvCxnSpPr>
          <p:nvPr/>
        </p:nvCxnSpPr>
        <p:spPr>
          <a:xfrm flipH="1">
            <a:off x="2879575" y="2343453"/>
            <a:ext cx="73353" cy="35156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AC33C0-B318-FAC3-FA07-19D4514B7439}"/>
              </a:ext>
            </a:extLst>
          </p:cNvPr>
          <p:cNvSpPr txBox="1"/>
          <p:nvPr/>
        </p:nvSpPr>
        <p:spPr>
          <a:xfrm>
            <a:off x="2064165" y="1981577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Early Oscillations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005F9A-22D9-FBED-F311-5B590CD61135}"/>
              </a:ext>
            </a:extLst>
          </p:cNvPr>
          <p:cNvSpPr/>
          <p:nvPr/>
        </p:nvSpPr>
        <p:spPr>
          <a:xfrm>
            <a:off x="2248257" y="2720696"/>
            <a:ext cx="1409343" cy="518069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37AB94-AD5E-8E7E-3B78-A413B65C175F}"/>
              </a:ext>
            </a:extLst>
          </p:cNvPr>
          <p:cNvSpPr/>
          <p:nvPr/>
        </p:nvSpPr>
        <p:spPr>
          <a:xfrm>
            <a:off x="7093507" y="2862207"/>
            <a:ext cx="458628" cy="508101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AE221C-7212-291D-CB38-A786C634D06E}"/>
              </a:ext>
            </a:extLst>
          </p:cNvPr>
          <p:cNvSpPr txBox="1"/>
          <p:nvPr/>
        </p:nvSpPr>
        <p:spPr>
          <a:xfrm>
            <a:off x="6434058" y="2210499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DFD </a:t>
            </a:r>
          </a:p>
          <a:p>
            <a:pPr algn="ctr"/>
            <a:r>
              <a:rPr lang="en-US" dirty="0"/>
              <a:t>(Market Interval)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41A4DF-2CF4-EC10-678C-078AA3C8A8A3}"/>
              </a:ext>
            </a:extLst>
          </p:cNvPr>
          <p:cNvSpPr txBox="1"/>
          <p:nvPr/>
        </p:nvSpPr>
        <p:spPr>
          <a:xfrm>
            <a:off x="3603332" y="4602503"/>
            <a:ext cx="1946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C28"/>
                </a:solidFill>
              </a:rPr>
              <a:t>Suspicious Events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Normal Events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25D61C-6E6E-D2C7-30BD-DD3855F1CC32}"/>
              </a:ext>
            </a:extLst>
          </p:cNvPr>
          <p:cNvSpPr/>
          <p:nvPr/>
        </p:nvSpPr>
        <p:spPr>
          <a:xfrm>
            <a:off x="8133715" y="2937617"/>
            <a:ext cx="241419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E61A33-983C-76A0-15B2-1CD1EBFFE6C2}"/>
              </a:ext>
            </a:extLst>
          </p:cNvPr>
          <p:cNvCxnSpPr>
            <a:cxnSpLocks/>
          </p:cNvCxnSpPr>
          <p:nvPr/>
        </p:nvCxnSpPr>
        <p:spPr>
          <a:xfrm flipV="1">
            <a:off x="7393118" y="3578658"/>
            <a:ext cx="646226" cy="774849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7C6851-836C-C77B-7904-7284F4C9DEDB}"/>
              </a:ext>
            </a:extLst>
          </p:cNvPr>
          <p:cNvSpPr txBox="1"/>
          <p:nvPr/>
        </p:nvSpPr>
        <p:spPr>
          <a:xfrm>
            <a:off x="6350389" y="4385432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Separation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A8F104-16D5-6CAE-F847-60B4211F8502}"/>
              </a:ext>
            </a:extLst>
          </p:cNvPr>
          <p:cNvCxnSpPr>
            <a:cxnSpLocks/>
          </p:cNvCxnSpPr>
          <p:nvPr/>
        </p:nvCxnSpPr>
        <p:spPr>
          <a:xfrm flipV="1">
            <a:off x="10394120" y="3477556"/>
            <a:ext cx="58904" cy="112494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6C4CCE-8B9D-AF24-2E2C-FAA0B307CB27}"/>
              </a:ext>
            </a:extLst>
          </p:cNvPr>
          <p:cNvSpPr txBox="1"/>
          <p:nvPr/>
        </p:nvSpPr>
        <p:spPr>
          <a:xfrm>
            <a:off x="9503208" y="4654615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Europe Recovers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B923D1-488A-5D7B-4FEB-1B8A11BFD06D}"/>
              </a:ext>
            </a:extLst>
          </p:cNvPr>
          <p:cNvSpPr/>
          <p:nvPr/>
        </p:nvSpPr>
        <p:spPr>
          <a:xfrm rot="4861384">
            <a:off x="10140334" y="1653218"/>
            <a:ext cx="503274" cy="3158868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8E3222-5EBB-F5DA-0B6F-08E310B2A21C}"/>
              </a:ext>
            </a:extLst>
          </p:cNvPr>
          <p:cNvSpPr/>
          <p:nvPr/>
        </p:nvSpPr>
        <p:spPr>
          <a:xfrm>
            <a:off x="2599396" y="2774222"/>
            <a:ext cx="201816" cy="411018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E21F7-C177-8851-0083-F2C515C22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 of European grid Frequencies just before the Blackout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181BF-8E37-8EA3-599D-464ADF47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53B11-D060-B211-098C-CE8F8D7B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3897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9E7F-AEC4-BEB6-A5E1-0D4D6A4F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Oscillations hint at Instability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354A6-20BB-6E51-6DDD-EFA2E4FF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1F06E-EA95-85A9-A277-4C9BFBD0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6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3A286-5D89-3C01-4EAD-1C5B16A19F68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1430754" y="1043298"/>
            <a:ext cx="10293408" cy="51467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C2B60D-A0E4-A354-1D65-CFB07FBD0340}"/>
              </a:ext>
            </a:extLst>
          </p:cNvPr>
          <p:cNvSpPr/>
          <p:nvPr/>
        </p:nvSpPr>
        <p:spPr>
          <a:xfrm>
            <a:off x="2333002" y="3717420"/>
            <a:ext cx="2743200" cy="786213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ADECE0-E554-84B2-49AC-3C99F691945E}"/>
              </a:ext>
            </a:extLst>
          </p:cNvPr>
          <p:cNvSpPr/>
          <p:nvPr/>
        </p:nvSpPr>
        <p:spPr>
          <a:xfrm>
            <a:off x="8219630" y="3616650"/>
            <a:ext cx="3134170" cy="1057900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0AD96-9A29-ACB4-0089-E058FF465BAA}"/>
              </a:ext>
            </a:extLst>
          </p:cNvPr>
          <p:cNvSpPr txBox="1"/>
          <p:nvPr/>
        </p:nvSpPr>
        <p:spPr>
          <a:xfrm>
            <a:off x="2333002" y="2664750"/>
            <a:ext cx="4637465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at least 12:13pm we see notable frequency oscillations in the Iberian grid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2433A-DC13-4972-843C-18E6D8DFC4FA}"/>
              </a:ext>
            </a:extLst>
          </p:cNvPr>
          <p:cNvSpPr txBox="1"/>
          <p:nvPr/>
        </p:nvSpPr>
        <p:spPr>
          <a:xfrm>
            <a:off x="8610600" y="2825915"/>
            <a:ext cx="3421799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Oscillation amplitudes increasing just minutes later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6736E-3523-6EF0-05F4-86C753F64B3B}"/>
              </a:ext>
            </a:extLst>
          </p:cNvPr>
          <p:cNvSpPr txBox="1"/>
          <p:nvPr/>
        </p:nvSpPr>
        <p:spPr>
          <a:xfrm>
            <a:off x="5324029" y="4701799"/>
            <a:ext cx="2136450" cy="646331"/>
          </a:xfrm>
          <a:prstGeom prst="rect">
            <a:avLst/>
          </a:prstGeom>
          <a:solidFill>
            <a:srgbClr val="E9E9E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Minor disturbance in Croatia was properly damped and faded in &lt;5 sec. We’ll ignore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BEDD8-C188-3B20-515C-471B61625942}"/>
              </a:ext>
            </a:extLst>
          </p:cNvPr>
          <p:cNvSpPr/>
          <p:nvPr/>
        </p:nvSpPr>
        <p:spPr>
          <a:xfrm>
            <a:off x="5324029" y="3369865"/>
            <a:ext cx="213645" cy="1247512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4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3A08-4ACF-3AD4-AEBB-20240481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Oscillations Worsen Rapidly ~ 12:20pm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E22F1-4525-28D7-95F0-0900BF81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DC2D0-0324-E83E-C9BD-C62EE5A4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7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1046D-A570-F29B-48AA-BD479038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1857" y="962478"/>
            <a:ext cx="10787742" cy="5393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93E86B-FDE6-C09E-7B50-98BC4E71880D}"/>
              </a:ext>
            </a:extLst>
          </p:cNvPr>
          <p:cNvSpPr txBox="1"/>
          <p:nvPr/>
        </p:nvSpPr>
        <p:spPr>
          <a:xfrm>
            <a:off x="2187723" y="2120341"/>
            <a:ext cx="3298677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Undamped frequencies oscillations rapidly worsen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07D82-753A-9691-CACE-40FFF919DE60}"/>
              </a:ext>
            </a:extLst>
          </p:cNvPr>
          <p:cNvSpPr txBox="1"/>
          <p:nvPr/>
        </p:nvSpPr>
        <p:spPr>
          <a:xfrm>
            <a:off x="8379863" y="1790766"/>
            <a:ext cx="3421799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180° phase shift</a:t>
            </a:r>
          </a:p>
        </p:txBody>
      </p:sp>
    </p:spTree>
    <p:extLst>
      <p:ext uri="{BB962C8B-B14F-4D97-AF65-F5344CB8AC3E}">
        <p14:creationId xmlns:p14="http://schemas.microsoft.com/office/powerpoint/2010/main" val="147652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1AC5-D52F-6402-032C-992D4947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Observing Spurious Oscillations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32159-4BFF-9DF6-257D-37A95B3D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8AE71-5559-F7D3-112A-77E7401D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8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881F5B-E4B5-30B3-7D0C-5C960476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9" b="2949"/>
          <a:stretch/>
        </p:blipFill>
        <p:spPr>
          <a:xfrm>
            <a:off x="2038526" y="850437"/>
            <a:ext cx="8682604" cy="58360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899BBF-587A-5A98-3CAD-D0A570FE1E7E}"/>
              </a:ext>
            </a:extLst>
          </p:cNvPr>
          <p:cNvSpPr/>
          <p:nvPr/>
        </p:nvSpPr>
        <p:spPr>
          <a:xfrm>
            <a:off x="4981969" y="1501630"/>
            <a:ext cx="981512" cy="3514986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94935-4DDD-FD62-0C7B-842E39E48CEB}"/>
              </a:ext>
            </a:extLst>
          </p:cNvPr>
          <p:cNvSpPr txBox="1"/>
          <p:nvPr/>
        </p:nvSpPr>
        <p:spPr>
          <a:xfrm>
            <a:off x="6009980" y="2393230"/>
            <a:ext cx="2896944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Oscillations ~0.23 Hz (4.3 seconds)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711D9197-717C-3E22-F419-460DE9EC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327" y="1428449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26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17F1-086B-DB2C-A2E9-4012B09C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Change at 12:30pm – No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F6DFC-94A7-D345-AC30-41570B9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3D4C0-2507-99AB-D550-919348C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9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CA80C-A596-D424-6899-CB96FF1E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74840" y="1061718"/>
            <a:ext cx="10436160" cy="5218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327A1-E33F-1F32-D814-0B6F12264B03}"/>
              </a:ext>
            </a:extLst>
          </p:cNvPr>
          <p:cNvSpPr txBox="1"/>
          <p:nvPr/>
        </p:nvSpPr>
        <p:spPr>
          <a:xfrm>
            <a:off x="2459001" y="1735404"/>
            <a:ext cx="5334764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15-minute electricity market means many generators change their power setpoints at 12:30pm.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BE6A6-B2C8-080E-9241-EFB8A7C6FDE7}"/>
              </a:ext>
            </a:extLst>
          </p:cNvPr>
          <p:cNvSpPr txBox="1"/>
          <p:nvPr/>
        </p:nvSpPr>
        <p:spPr>
          <a:xfrm>
            <a:off x="8533728" y="1854876"/>
            <a:ext cx="2896944" cy="181588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resulting change in steady-state frequency is called a “Deterministic Frequency Deviation”. These are an undesirable but expected and manageable aspect of large electricity markets.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1A2D1-92C8-6A5E-2F00-7B3CD5E1F2BA}"/>
              </a:ext>
            </a:extLst>
          </p:cNvPr>
          <p:cNvSpPr/>
          <p:nvPr/>
        </p:nvSpPr>
        <p:spPr>
          <a:xfrm>
            <a:off x="5289847" y="2489672"/>
            <a:ext cx="3090016" cy="2518163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0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72E367A-8233-3026-5777-1C68A668A1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097236" y="946402"/>
            <a:ext cx="10942364" cy="54711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9F06D-3915-1B91-0E56-12870772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Iberia Separates from Europe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96C00-E1DE-C4A8-DA2F-D59EDB53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8A25E-BE20-9019-AAAB-457652A6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10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ED9CD-7FA6-E554-C43F-BD0CAA7D14F0}"/>
              </a:ext>
            </a:extLst>
          </p:cNvPr>
          <p:cNvSpPr txBox="1"/>
          <p:nvPr/>
        </p:nvSpPr>
        <p:spPr>
          <a:xfrm>
            <a:off x="1127436" y="1292786"/>
            <a:ext cx="2810312" cy="109260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Significant frequency drop @ </a:t>
            </a:r>
            <a:r>
              <a:rPr lang="en-US" dirty="0">
                <a:solidFill>
                  <a:srgbClr val="C00000"/>
                </a:solidFill>
              </a:rPr>
              <a:t>12:32:57.3</a:t>
            </a:r>
            <a:r>
              <a:rPr lang="en-US" dirty="0"/>
              <a:t> due to some loss of generation 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>
                <a:hlinkClick r:id="rId3"/>
              </a:rPr>
              <a:t>link to news conference</a:t>
            </a:r>
            <a:r>
              <a:rPr lang="en-US" sz="1000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66E191-D533-76CB-F713-410A0C3B4FF9}"/>
              </a:ext>
            </a:extLst>
          </p:cNvPr>
          <p:cNvSpPr txBox="1"/>
          <p:nvPr/>
        </p:nvSpPr>
        <p:spPr>
          <a:xfrm>
            <a:off x="6096000" y="2385393"/>
            <a:ext cx="1933073" cy="43088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Oscillations persist but Iberia stays connected until…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19BAA-418F-825A-B5FB-B2B950E8FF0B}"/>
              </a:ext>
            </a:extLst>
          </p:cNvPr>
          <p:cNvSpPr/>
          <p:nvPr/>
        </p:nvSpPr>
        <p:spPr>
          <a:xfrm>
            <a:off x="4341264" y="2315910"/>
            <a:ext cx="521294" cy="957129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CE2C8-5E67-08BC-5663-70180BA57B6B}"/>
              </a:ext>
            </a:extLst>
          </p:cNvPr>
          <p:cNvSpPr txBox="1"/>
          <p:nvPr/>
        </p:nvSpPr>
        <p:spPr>
          <a:xfrm>
            <a:off x="2691442" y="3380996"/>
            <a:ext cx="3700812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12:33:16.5:</a:t>
            </a:r>
            <a:r>
              <a:rPr lang="en-US" dirty="0"/>
              <a:t> Likely some large source tripped and started the cascade of “15GW in 5 seconds”.**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371B99-30AC-C8FB-4412-C81C844F47F0}"/>
              </a:ext>
            </a:extLst>
          </p:cNvPr>
          <p:cNvCxnSpPr>
            <a:cxnSpLocks/>
          </p:cNvCxnSpPr>
          <p:nvPr/>
        </p:nvCxnSpPr>
        <p:spPr>
          <a:xfrm flipV="1">
            <a:off x="6392254" y="3273039"/>
            <a:ext cx="2391019" cy="311923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B1AE84-03BB-3345-FF87-8496F2B10A29}"/>
              </a:ext>
            </a:extLst>
          </p:cNvPr>
          <p:cNvSpPr/>
          <p:nvPr/>
        </p:nvSpPr>
        <p:spPr>
          <a:xfrm>
            <a:off x="9672506" y="2755575"/>
            <a:ext cx="1992864" cy="221909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28C36-E74A-71D7-FF0D-75F12B6716B4}"/>
              </a:ext>
            </a:extLst>
          </p:cNvPr>
          <p:cNvSpPr txBox="1"/>
          <p:nvPr/>
        </p:nvSpPr>
        <p:spPr>
          <a:xfrm>
            <a:off x="9583662" y="2195612"/>
            <a:ext cx="2170552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Rest of Europe actives FCR and stabilizes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18C1EE-5B14-954B-3DCF-829A6EF845D4}"/>
              </a:ext>
            </a:extLst>
          </p:cNvPr>
          <p:cNvSpPr txBox="1"/>
          <p:nvPr/>
        </p:nvSpPr>
        <p:spPr>
          <a:xfrm>
            <a:off x="4486542" y="5299929"/>
            <a:ext cx="4217322" cy="584775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Separation from France @ </a:t>
            </a:r>
            <a:r>
              <a:rPr lang="en-US" sz="1600" dirty="0">
                <a:solidFill>
                  <a:srgbClr val="C00000"/>
                </a:solidFill>
              </a:rPr>
              <a:t>~12:33:19.4</a:t>
            </a:r>
            <a:r>
              <a:rPr lang="en-US" sz="1600" dirty="0"/>
              <a:t>: Rest of Europe recovers, Iberian frequency collapses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6175BA-68C4-D1E8-4854-7F7983A22C8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703864" y="5592317"/>
            <a:ext cx="676306" cy="29238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106FAE-24E3-76F9-ED84-E070CB0D019D}"/>
              </a:ext>
            </a:extLst>
          </p:cNvPr>
          <p:cNvSpPr txBox="1"/>
          <p:nvPr/>
        </p:nvSpPr>
        <p:spPr>
          <a:xfrm>
            <a:off x="1243258" y="6454327"/>
            <a:ext cx="3358653" cy="33855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** ”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desconexión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repentina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dos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centrales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generación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eléctrica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el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suroeste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la peninsula” [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  <a:hlinkClick r:id="rId4"/>
              </a:rPr>
              <a:t>El Periodico de la Energia, 29 Abril 2025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]</a:t>
            </a:r>
            <a:endParaRPr lang="en-US" sz="800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D03D5BA-3D60-0166-CC96-32D0A7426AB5}"/>
              </a:ext>
            </a:extLst>
          </p:cNvPr>
          <p:cNvSpPr/>
          <p:nvPr/>
        </p:nvSpPr>
        <p:spPr>
          <a:xfrm>
            <a:off x="3967949" y="1877635"/>
            <a:ext cx="610108" cy="399282"/>
          </a:xfrm>
          <a:custGeom>
            <a:avLst/>
            <a:gdLst>
              <a:gd name="connsiteX0" fmla="*/ 0 w 351227"/>
              <a:gd name="connsiteY0" fmla="*/ 737 h 351964"/>
              <a:gd name="connsiteX1" fmla="*/ 218003 w 351227"/>
              <a:gd name="connsiteY1" fmla="*/ 55238 h 351964"/>
              <a:gd name="connsiteX2" fmla="*/ 351227 w 351227"/>
              <a:gd name="connsiteY2" fmla="*/ 351964 h 35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1227" h="351964">
                <a:moveTo>
                  <a:pt x="0" y="737"/>
                </a:moveTo>
                <a:cubicBezTo>
                  <a:pt x="79732" y="-1282"/>
                  <a:pt x="159465" y="-3300"/>
                  <a:pt x="218003" y="55238"/>
                </a:cubicBezTo>
                <a:cubicBezTo>
                  <a:pt x="276541" y="113776"/>
                  <a:pt x="313884" y="232870"/>
                  <a:pt x="351227" y="351964"/>
                </a:cubicBezTo>
              </a:path>
            </a:pathLst>
          </a:custGeom>
          <a:noFill/>
          <a:ln w="28575">
            <a:solidFill>
              <a:srgbClr val="FFCC28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0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49B8-6339-116F-B5DB-E4BF4A09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is consistently to fast all morning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E6B4B-F378-32C5-4486-9CE49328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9E6D3-7FD0-FBA7-AFA6-3B341A25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11</a:t>
            </a:fld>
            <a:endParaRPr lang="es-ES" altLang="es-ES"/>
          </a:p>
        </p:txBody>
      </p:sp>
      <p:pic>
        <p:nvPicPr>
          <p:cNvPr id="6" name="Picture 5" descr="A graph showing a line&#10;&#10;AI-generated content may be incorrect.">
            <a:extLst>
              <a:ext uri="{FF2B5EF4-FFF2-40B4-BE49-F238E27FC236}">
                <a16:creationId xmlns:a16="http://schemas.microsoft.com/office/drawing/2014/main" id="{86AAA95E-7D85-27BC-6FFA-C1618F144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62947E-E7F7-8B8F-304F-4AB5043369FC}"/>
              </a:ext>
            </a:extLst>
          </p:cNvPr>
          <p:cNvSpPr txBox="1"/>
          <p:nvPr/>
        </p:nvSpPr>
        <p:spPr>
          <a:xfrm>
            <a:off x="2375406" y="2788279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frequency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E291D8-AC05-2EAD-176B-8C560697BB56}"/>
              </a:ext>
            </a:extLst>
          </p:cNvPr>
          <p:cNvCxnSpPr/>
          <p:nvPr/>
        </p:nvCxnSpPr>
        <p:spPr>
          <a:xfrm flipV="1">
            <a:off x="2567031" y="3338818"/>
            <a:ext cx="956345" cy="478173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F2BD73-9B24-F55F-22B7-154EDFF96E45}"/>
              </a:ext>
            </a:extLst>
          </p:cNvPr>
          <p:cNvCxnSpPr>
            <a:cxnSpLocks/>
          </p:cNvCxnSpPr>
          <p:nvPr/>
        </p:nvCxnSpPr>
        <p:spPr>
          <a:xfrm flipV="1">
            <a:off x="3784394" y="3429000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658001-D052-B158-ED05-E90344F9CD8A}"/>
              </a:ext>
            </a:extLst>
          </p:cNvPr>
          <p:cNvCxnSpPr>
            <a:cxnSpLocks/>
          </p:cNvCxnSpPr>
          <p:nvPr/>
        </p:nvCxnSpPr>
        <p:spPr>
          <a:xfrm flipV="1">
            <a:off x="5337535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9AA1B7-8196-DEA8-7A71-9FCAAA355F12}"/>
              </a:ext>
            </a:extLst>
          </p:cNvPr>
          <p:cNvCxnSpPr>
            <a:cxnSpLocks/>
          </p:cNvCxnSpPr>
          <p:nvPr/>
        </p:nvCxnSpPr>
        <p:spPr>
          <a:xfrm flipV="1">
            <a:off x="6789051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40BF30-BFF7-8AA3-2B2D-26EF8153B011}"/>
              </a:ext>
            </a:extLst>
          </p:cNvPr>
          <p:cNvCxnSpPr>
            <a:cxnSpLocks/>
          </p:cNvCxnSpPr>
          <p:nvPr/>
        </p:nvCxnSpPr>
        <p:spPr>
          <a:xfrm flipV="1">
            <a:off x="8283249" y="3314751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A646B3-36AE-58F5-D297-D73365314975}"/>
              </a:ext>
            </a:extLst>
          </p:cNvPr>
          <p:cNvCxnSpPr>
            <a:cxnSpLocks/>
          </p:cNvCxnSpPr>
          <p:nvPr/>
        </p:nvCxnSpPr>
        <p:spPr>
          <a:xfrm flipV="1">
            <a:off x="9982200" y="3153407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6A44F2-5255-E729-DF53-EB23F02493A6}"/>
              </a:ext>
            </a:extLst>
          </p:cNvPr>
          <p:cNvSpPr txBox="1"/>
          <p:nvPr/>
        </p:nvSpPr>
        <p:spPr>
          <a:xfrm>
            <a:off x="3959604" y="2795085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ascends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BB426-F0E7-6608-431B-0ACE6A9AED09}"/>
              </a:ext>
            </a:extLst>
          </p:cNvPr>
          <p:cNvSpPr txBox="1"/>
          <p:nvPr/>
        </p:nvSpPr>
        <p:spPr>
          <a:xfrm>
            <a:off x="5425139" y="2794443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within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72A56B-884B-CB88-FE97-A17F3A8E5EC0}"/>
              </a:ext>
            </a:extLst>
          </p:cNvPr>
          <p:cNvSpPr txBox="1"/>
          <p:nvPr/>
        </p:nvSpPr>
        <p:spPr>
          <a:xfrm>
            <a:off x="8472920" y="2788281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market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13724-6AD2-892E-B4C7-7C71F6ECB5F5}"/>
              </a:ext>
            </a:extLst>
          </p:cNvPr>
          <p:cNvSpPr txBox="1"/>
          <p:nvPr/>
        </p:nvSpPr>
        <p:spPr>
          <a:xfrm>
            <a:off x="10057118" y="2788282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interval!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D6BB3-689F-7757-80FE-210E152CBDB9}"/>
              </a:ext>
            </a:extLst>
          </p:cNvPr>
          <p:cNvSpPr txBox="1"/>
          <p:nvPr/>
        </p:nvSpPr>
        <p:spPr>
          <a:xfrm>
            <a:off x="6975050" y="2788280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each</a:t>
            </a:r>
          </a:p>
        </p:txBody>
      </p:sp>
    </p:spTree>
    <p:extLst>
      <p:ext uri="{BB962C8B-B14F-4D97-AF65-F5344CB8AC3E}">
        <p14:creationId xmlns:p14="http://schemas.microsoft.com/office/powerpoint/2010/main" val="240120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27B7-B1D5-0298-CCB2-AF3DBB00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F6545BFE-BB10-8421-40F3-000D4C50A5F6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B32B6B-286D-B587-85B4-1FC507B9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12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D53BAC-3FFA-7F26-0128-B8726748F88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Rate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Change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Frequency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8594E2-CA84-BB04-DF14-402D08E95ED9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8C66E389-97E8-D9A6-F827-56CF5DF95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2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D017E832-6263-1272-99F7-8E9D1EEC5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3620B47-66DF-0D8A-C4ED-DE956A06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481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13D3-2837-659F-3A58-29723E46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A6161-37A5-6E82-D602-55A5BF75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73AD9-E630-D75C-FC49-A6802C68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13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0566-0B2F-6EF9-299D-60339EECC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C0F36-40E4-9752-26F4-62C8B262037A}"/>
              </a:ext>
            </a:extLst>
          </p:cNvPr>
          <p:cNvSpPr txBox="1"/>
          <p:nvPr/>
        </p:nvSpPr>
        <p:spPr>
          <a:xfrm>
            <a:off x="6652246" y="4236328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15B78E-3E9A-F84F-3FE9-A7420456B2A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954179" y="2167117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7DF58D-954B-9556-B16D-B5C64BF9E6DE}"/>
              </a:ext>
            </a:extLst>
          </p:cNvPr>
          <p:cNvSpPr txBox="1"/>
          <p:nvPr/>
        </p:nvSpPr>
        <p:spPr>
          <a:xfrm>
            <a:off x="3453802" y="1905507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+0.71 Hz/s</a:t>
            </a:r>
          </a:p>
        </p:txBody>
      </p:sp>
    </p:spTree>
    <p:extLst>
      <p:ext uri="{BB962C8B-B14F-4D97-AF65-F5344CB8AC3E}">
        <p14:creationId xmlns:p14="http://schemas.microsoft.com/office/powerpoint/2010/main" val="1924584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D46A3BC-79DA-E736-CFA5-050DB9AC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410" y="1132514"/>
            <a:ext cx="10757042" cy="53785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EEE18-99D1-4340-328D-2500A801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stayed within limits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7616-F68E-2705-D3A0-1CFDBD0F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D602B-4580-16A3-419B-EA77A252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14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3B747-657D-B45C-16ED-FF6EE61E8298}"/>
              </a:ext>
            </a:extLst>
          </p:cNvPr>
          <p:cNvSpPr txBox="1">
            <a:spLocks/>
          </p:cNvSpPr>
          <p:nvPr/>
        </p:nvSpPr>
        <p:spPr>
          <a:xfrm>
            <a:off x="3255907" y="3964087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data*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BC8F84-8A72-BE6A-3FA6-D62D75BD173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837324" y="3778554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1F1083-C3EB-223C-9A09-334F86F18BBA}"/>
              </a:ext>
            </a:extLst>
          </p:cNvPr>
          <p:cNvSpPr txBox="1">
            <a:spLocks/>
          </p:cNvSpPr>
          <p:nvPr/>
        </p:nvSpPr>
        <p:spPr>
          <a:xfrm>
            <a:off x="9336947" y="3516944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-0.8 Hz/s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FD6DF-0BB6-6B61-A2DA-61F2A6ABC6F5}"/>
              </a:ext>
            </a:extLst>
          </p:cNvPr>
          <p:cNvSpPr txBox="1">
            <a:spLocks/>
          </p:cNvSpPr>
          <p:nvPr/>
        </p:nvSpPr>
        <p:spPr>
          <a:xfrm>
            <a:off x="9333575" y="4334483"/>
            <a:ext cx="2016853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*Physical RoCoF probably lower, but limited by the PMU recording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AB73A-2701-72AE-4A9D-9D3187E03669}"/>
              </a:ext>
            </a:extLst>
          </p:cNvPr>
          <p:cNvCxnSpPr>
            <a:cxnSpLocks/>
          </p:cNvCxnSpPr>
          <p:nvPr/>
        </p:nvCxnSpPr>
        <p:spPr>
          <a:xfrm>
            <a:off x="8786280" y="4441576"/>
            <a:ext cx="547295" cy="58343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F03BE1-CD81-4337-B118-5C5C9B81CAAC}"/>
              </a:ext>
            </a:extLst>
          </p:cNvPr>
          <p:cNvSpPr txBox="1"/>
          <p:nvPr/>
        </p:nvSpPr>
        <p:spPr>
          <a:xfrm>
            <a:off x="1075410" y="933847"/>
            <a:ext cx="4650556" cy="21544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3"/>
              </a:rPr>
              <a:t>RoCoF limits from “Rate of Change of Frequency (RoCoF withstand capability”, entso-e, 31 January 2018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438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27F9-89C0-C8E8-ED5B-2E13528D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63600EFA-35C3-AA46-8392-98060F5FCDB5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9097A25-6CC8-D992-0075-03CCB712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15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9C6F3B-96C4-FDFC-EA8D-9A858CF8632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Generation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Inertia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Exports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1388E2-CCA9-21AB-A122-739DDD06480B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34716495-150E-0607-47D9-194626784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3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0564D23D-6821-B13F-94E9-9C740E03B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FC327FA-164F-F960-D24A-24D02A240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20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F378-642C-6051-9EB8-E3AF2023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MIX on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5334A-F59D-E452-CBDC-459A6BF2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5ED9E-C8EC-A11E-724E-AA4CC8C6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16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6D452-DA0E-4973-BF3E-0424C930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1857" y="965698"/>
            <a:ext cx="10781303" cy="53906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8C275D-464A-F5BC-0FEB-57C99BFCB951}"/>
              </a:ext>
            </a:extLst>
          </p:cNvPr>
          <p:cNvSpPr txBox="1"/>
          <p:nvPr/>
        </p:nvSpPr>
        <p:spPr>
          <a:xfrm>
            <a:off x="1271332" y="6358010"/>
            <a:ext cx="2869347" cy="27699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Source: ENTSO-E Transparency Platform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F9EA3C32-D30A-DDEC-C465-6A3467305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734" y="167027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058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4994-2302-541C-D438-DBFE8A8D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Estimation Methods – 1 of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C3B93-8F50-9DAA-A789-9ADB73F3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17588-B5AE-3D7D-B99B-FA664AB6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17</a:t>
            </a:fld>
            <a:endParaRPr lang="es-ES" altLang="es-E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19F0CED-BA04-2573-F0A9-491B94DF9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856" y="910049"/>
            <a:ext cx="11668288" cy="5273738"/>
          </a:xfrm>
        </p:spPr>
        <p:txBody>
          <a:bodyPr/>
          <a:lstStyle/>
          <a:p>
            <a:r>
              <a:rPr lang="en-US" dirty="0"/>
              <a:t>Grid stability is a complex topic, but two very important factors are </a:t>
            </a:r>
            <a:r>
              <a:rPr lang="en-US" b="1" dirty="0"/>
              <a:t>controls</a:t>
            </a:r>
            <a:r>
              <a:rPr lang="en-US" dirty="0"/>
              <a:t> and </a:t>
            </a:r>
            <a:r>
              <a:rPr lang="en-US" b="1" dirty="0"/>
              <a:t>inertia</a:t>
            </a:r>
            <a:r>
              <a:rPr lang="en-US" dirty="0"/>
              <a:t>.</a:t>
            </a:r>
          </a:p>
          <a:p>
            <a:endParaRPr lang="en-US" sz="1600" dirty="0"/>
          </a:p>
          <a:p>
            <a:r>
              <a:rPr lang="en-US" sz="2400" b="1" dirty="0"/>
              <a:t>Controls: </a:t>
            </a:r>
            <a:r>
              <a:rPr lang="en-US" sz="2400" dirty="0"/>
              <a:t>Grid-Forming (GFM) controls allow inverter-based resources  (“IBR”, e.g. solar, wind, batteries) to positively contribute to grid stability, but these are less prevalent today, and historically most IBRs use grid-following (GFL) controls. New battery installations will greatly expand available GFM assets.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2400" b="1" dirty="0"/>
              <a:t>Inertia: </a:t>
            </a:r>
            <a:r>
              <a:rPr lang="en-US" sz="2400" dirty="0">
                <a:hlinkClick r:id="rId2"/>
              </a:rPr>
              <a:t>ENTSO-E ”Project Inertia”</a:t>
            </a:r>
            <a:r>
              <a:rPr lang="en-US" sz="2400" dirty="0"/>
              <a:t> has published basic methods for estimating kinetic inertia, which we utilize in the following slides. These estimates should be considered lower bounds because they do not include:</a:t>
            </a:r>
          </a:p>
          <a:p>
            <a:pPr lvl="1"/>
            <a:r>
              <a:rPr lang="en-US" dirty="0"/>
              <a:t>Non-generating inertia contributors (e.g. synchronous compensators)</a:t>
            </a:r>
          </a:p>
          <a:p>
            <a:pPr lvl="1"/>
            <a:r>
              <a:rPr lang="en-US" dirty="0"/>
              <a:t>Inertia from online plants operating below nominal capacity</a:t>
            </a:r>
          </a:p>
          <a:p>
            <a:pPr lvl="1"/>
            <a:r>
              <a:rPr lang="en-US" dirty="0"/>
              <a:t>Contributions from GFM-capable inverters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44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85AD4-A9A2-FAD3-9CE4-A24A3FF3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F37D-B5AB-54DB-9790-2618E5B6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Estimation Methods – 2 of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8C221-D55D-7F5A-0D0A-1DA10971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50B45-8CE0-8609-7A05-0F0DDF56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18</a:t>
            </a:fld>
            <a:endParaRPr lang="es-ES" alt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41200-16BF-2F81-D6FB-94AC65D87A3E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2"/>
              </a:rPr>
              <a:t>“Inertia and Rate of Change of Frequency (RoCoF)”, ENTSO-E, 16 Dec. 2020 </a:t>
            </a:r>
            <a:endParaRPr lang="en-US" sz="1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5FE752-AE0B-3C34-F6FF-3DA2F370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147313"/>
            <a:ext cx="4114794" cy="5273738"/>
          </a:xfrm>
        </p:spPr>
        <p:txBody>
          <a:bodyPr/>
          <a:lstStyle/>
          <a:p>
            <a:r>
              <a:rPr lang="en-US" sz="2000" dirty="0"/>
              <a:t>The authors’ lower-bound estimates are based on the simplest data available: generation [MW] by resource type at 12:30pm on April 28, 2025.</a:t>
            </a:r>
          </a:p>
          <a:p>
            <a:endParaRPr lang="en-US" sz="2000" dirty="0"/>
          </a:p>
          <a:p>
            <a:r>
              <a:rPr lang="en-US" sz="2000" dirty="0"/>
              <a:t>Inertia estimates by resource type are simply the product of the that resource’s share of the generation mix [GW/GW] and the inertia constants [s] published by ENTSO-E.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r>
              <a:rPr lang="en-US" sz="2000" dirty="0"/>
              <a:t>Total equivalent inertia lower-bound estimates is simply the sum of these estimates.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D100AB-AA3C-AA3D-CB8B-B926338BA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369590"/>
              </p:ext>
            </p:extLst>
          </p:nvPr>
        </p:nvGraphicFramePr>
        <p:xfrm>
          <a:off x="4794606" y="1601789"/>
          <a:ext cx="6717588" cy="3693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974">
                  <a:extLst>
                    <a:ext uri="{9D8B030D-6E8A-4147-A177-3AD203B41FA5}">
                      <a16:colId xmlns:a16="http://schemas.microsoft.com/office/drawing/2014/main" val="970722109"/>
                    </a:ext>
                  </a:extLst>
                </a:gridCol>
                <a:gridCol w="1282977">
                  <a:extLst>
                    <a:ext uri="{9D8B030D-6E8A-4147-A177-3AD203B41FA5}">
                      <a16:colId xmlns:a16="http://schemas.microsoft.com/office/drawing/2014/main" val="1406329708"/>
                    </a:ext>
                  </a:extLst>
                </a:gridCol>
                <a:gridCol w="975772">
                  <a:extLst>
                    <a:ext uri="{9D8B030D-6E8A-4147-A177-3AD203B41FA5}">
                      <a16:colId xmlns:a16="http://schemas.microsoft.com/office/drawing/2014/main" val="1736644714"/>
                    </a:ext>
                  </a:extLst>
                </a:gridCol>
                <a:gridCol w="972079">
                  <a:extLst>
                    <a:ext uri="{9D8B030D-6E8A-4147-A177-3AD203B41FA5}">
                      <a16:colId xmlns:a16="http://schemas.microsoft.com/office/drawing/2014/main" val="2224703659"/>
                    </a:ext>
                  </a:extLst>
                </a:gridCol>
                <a:gridCol w="1165558">
                  <a:extLst>
                    <a:ext uri="{9D8B030D-6E8A-4147-A177-3AD203B41FA5}">
                      <a16:colId xmlns:a16="http://schemas.microsoft.com/office/drawing/2014/main" val="3633106188"/>
                    </a:ext>
                  </a:extLst>
                </a:gridCol>
                <a:gridCol w="1004228">
                  <a:extLst>
                    <a:ext uri="{9D8B030D-6E8A-4147-A177-3AD203B41FA5}">
                      <a16:colId xmlns:a16="http://schemas.microsoft.com/office/drawing/2014/main" val="156122670"/>
                    </a:ext>
                  </a:extLst>
                </a:gridCol>
              </a:tblGrid>
              <a:tr h="287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Generation Type</a:t>
                      </a: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Generation @ 12:30pm (MW)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H_eq (s)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Equivalent Inertia Floor (s)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Generation 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Inertia 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366825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Solar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19340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59.8%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1255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Wind Onshore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3416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78633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Nuclear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3384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46.7%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618985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Fossil Gas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2216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6.9%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21.8%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413329"/>
                  </a:ext>
                </a:extLst>
              </a:tr>
              <a:tr h="427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Water Reservoir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1952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6.0%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16.9%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64722"/>
                  </a:ext>
                </a:extLst>
              </a:tr>
              <a:tr h="56755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Run-of-river and poundage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010379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Biomass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28848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Fossil Hard coal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77122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Waste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356142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Other renewable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66768"/>
                  </a:ext>
                </a:extLst>
              </a:tr>
              <a:tr h="427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Pumped Storage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444400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32332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1.32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100.0%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100.0%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581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1B1E0A-9083-1C84-1758-DD47EE050A55}"/>
              </a:ext>
            </a:extLst>
          </p:cNvPr>
          <p:cNvSpPr txBox="1"/>
          <p:nvPr/>
        </p:nvSpPr>
        <p:spPr>
          <a:xfrm>
            <a:off x="7621062" y="847260"/>
            <a:ext cx="243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Lower bound estimate!</a:t>
            </a:r>
            <a:endParaRPr lang="en-US" b="1" i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188155-4E75-4771-2667-AE5CD89C7237}"/>
              </a:ext>
            </a:extLst>
          </p:cNvPr>
          <p:cNvCxnSpPr>
            <a:cxnSpLocks/>
          </p:cNvCxnSpPr>
          <p:nvPr/>
        </p:nvCxnSpPr>
        <p:spPr>
          <a:xfrm>
            <a:off x="8836137" y="1242204"/>
            <a:ext cx="0" cy="284672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645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01A9-B350-8630-8951-82031A5C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1BBB013-F859-2107-9733-FB09AB0862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910669" y="1001705"/>
            <a:ext cx="10721470" cy="53607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F17DE0-D7A3-9C4D-A66A-45F43B9D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Inertia Estimates for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87134-2289-882C-7493-55627E29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A8F4-4F1D-8CD5-CF72-24A32434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19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581DF-0056-F77B-645A-57C2DF43B04A}"/>
              </a:ext>
            </a:extLst>
          </p:cNvPr>
          <p:cNvSpPr txBox="1"/>
          <p:nvPr/>
        </p:nvSpPr>
        <p:spPr>
          <a:xfrm>
            <a:off x="7280694" y="4184172"/>
            <a:ext cx="2430517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Inertia estimate based on </a:t>
            </a:r>
            <a:r>
              <a:rPr lang="en-US" b="1" dirty="0"/>
              <a:t>actual</a:t>
            </a:r>
            <a:r>
              <a:rPr lang="en-US" dirty="0"/>
              <a:t> generation</a:t>
            </a:r>
          </a:p>
          <a:p>
            <a:r>
              <a:rPr lang="en-US" dirty="0"/>
              <a:t>(lower bound)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CFFC42-CEC7-0208-DAC6-BDC31F46B067}"/>
              </a:ext>
            </a:extLst>
          </p:cNvPr>
          <p:cNvCxnSpPr>
            <a:cxnSpLocks/>
          </p:cNvCxnSpPr>
          <p:nvPr/>
        </p:nvCxnSpPr>
        <p:spPr>
          <a:xfrm>
            <a:off x="4675517" y="1768415"/>
            <a:ext cx="424527" cy="949606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C5CF74-A24A-127F-E93E-DA1CD343B302}"/>
              </a:ext>
            </a:extLst>
          </p:cNvPr>
          <p:cNvCxnSpPr>
            <a:cxnSpLocks/>
          </p:cNvCxnSpPr>
          <p:nvPr/>
        </p:nvCxnSpPr>
        <p:spPr>
          <a:xfrm>
            <a:off x="6651959" y="4270074"/>
            <a:ext cx="628735" cy="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6B4082-F248-3A42-DB91-65D9E994FF68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3"/>
              </a:rPr>
              <a:t>“Inertia and Rate of Change of Frequency (RoCoF)”, ENTSO-E, 16 Dec. 2020 </a:t>
            </a: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281042-6F14-A91B-3F24-6921B0E2AAEE}"/>
              </a:ext>
            </a:extLst>
          </p:cNvPr>
          <p:cNvSpPr txBox="1"/>
          <p:nvPr/>
        </p:nvSpPr>
        <p:spPr>
          <a:xfrm>
            <a:off x="6149572" y="3385281"/>
            <a:ext cx="4018245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Connected generators still contribute inertia, even if generating below their rated capacity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34550B-054B-0250-6706-58716CB32F5E}"/>
              </a:ext>
            </a:extLst>
          </p:cNvPr>
          <p:cNvCxnSpPr>
            <a:cxnSpLocks/>
          </p:cNvCxnSpPr>
          <p:nvPr/>
        </p:nvCxnSpPr>
        <p:spPr>
          <a:xfrm>
            <a:off x="6589393" y="2929233"/>
            <a:ext cx="691301" cy="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443645C-D2E9-AB05-4AD0-204226DBB17A}"/>
              </a:ext>
            </a:extLst>
          </p:cNvPr>
          <p:cNvSpPr txBox="1"/>
          <p:nvPr/>
        </p:nvSpPr>
        <p:spPr>
          <a:xfrm>
            <a:off x="7280693" y="2100379"/>
            <a:ext cx="2430517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Inertia estimation considering </a:t>
            </a:r>
            <a:r>
              <a:rPr lang="en-US" b="1" dirty="0"/>
              <a:t>connected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dirty="0"/>
              <a:t>generation. </a:t>
            </a:r>
          </a:p>
        </p:txBody>
      </p:sp>
    </p:spTree>
    <p:extLst>
      <p:ext uri="{BB962C8B-B14F-4D97-AF65-F5344CB8AC3E}">
        <p14:creationId xmlns:p14="http://schemas.microsoft.com/office/powerpoint/2010/main" val="3818511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FE06-D87F-CD98-5A22-A4614CBA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AC263-A9D9-91B5-039E-B431D5DB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20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C186E-C540-88CF-BABC-2141192D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75" y="424741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CF635-0D85-AB20-C537-D8700FC9D89A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C6305-2230-D18D-FB7A-A3EE39A6C58A}"/>
              </a:ext>
            </a:extLst>
          </p:cNvPr>
          <p:cNvSpPr txBox="1"/>
          <p:nvPr/>
        </p:nvSpPr>
        <p:spPr>
          <a:xfrm>
            <a:off x="6951625" y="4483632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9AE285-6AA8-C2B0-0B83-F230945DFCF2}"/>
              </a:ext>
            </a:extLst>
          </p:cNvPr>
          <p:cNvSpPr txBox="1"/>
          <p:nvPr/>
        </p:nvSpPr>
        <p:spPr>
          <a:xfrm>
            <a:off x="6951625" y="3224107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460CDF-00FE-35AC-7A11-7DD9A814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8454"/>
            <a:ext cx="4114800" cy="213285"/>
          </a:xfrm>
        </p:spPr>
        <p:txBody>
          <a:bodyPr/>
          <a:lstStyle/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814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6CED3-5FD0-88A0-BD8A-19021998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197C8-C0AC-DAE8-ACF9-A45E76D3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21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29FDC-2219-0839-5EC5-AE599E7FA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740" y="373678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114BD-BAAF-702B-7686-C90AEFF2D56C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9347D-8AD7-1F85-1E00-4166C037F424}"/>
              </a:ext>
            </a:extLst>
          </p:cNvPr>
          <p:cNvSpPr txBox="1"/>
          <p:nvPr/>
        </p:nvSpPr>
        <p:spPr>
          <a:xfrm>
            <a:off x="1647645" y="4278383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27AA4-824C-6757-6D17-FFDEAEE29BB0}"/>
              </a:ext>
            </a:extLst>
          </p:cNvPr>
          <p:cNvSpPr txBox="1"/>
          <p:nvPr/>
        </p:nvSpPr>
        <p:spPr>
          <a:xfrm>
            <a:off x="2142139" y="2007362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</p:spTree>
    <p:extLst>
      <p:ext uri="{BB962C8B-B14F-4D97-AF65-F5344CB8AC3E}">
        <p14:creationId xmlns:p14="http://schemas.microsoft.com/office/powerpoint/2010/main" val="1892627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F4AF-A83D-B378-DA0A-021CBFED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 with France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F017A-4162-6CB3-2475-19E48891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B9DF2-2841-A648-5418-3D7BA044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22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4AAAE-156C-B49B-D8CD-99F81E1F65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994788"/>
            <a:ext cx="8827481" cy="536156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E3E0415-280F-1A3B-6F06-2CDC6DD417D1}"/>
              </a:ext>
            </a:extLst>
          </p:cNvPr>
          <p:cNvSpPr/>
          <p:nvPr/>
        </p:nvSpPr>
        <p:spPr>
          <a:xfrm>
            <a:off x="1951709" y="2466362"/>
            <a:ext cx="427839" cy="411061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E70DD-C9A1-C4D5-5CE4-9308F194E010}"/>
              </a:ext>
            </a:extLst>
          </p:cNvPr>
          <p:cNvSpPr txBox="1"/>
          <p:nvPr/>
        </p:nvSpPr>
        <p:spPr>
          <a:xfrm>
            <a:off x="913700" y="1056525"/>
            <a:ext cx="1465848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Additional 2.2GW HVDC line expected by 2028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08016-186C-4807-CBB5-31AE4D79AC22}"/>
              </a:ext>
            </a:extLst>
          </p:cNvPr>
          <p:cNvSpPr txBox="1"/>
          <p:nvPr/>
        </p:nvSpPr>
        <p:spPr>
          <a:xfrm>
            <a:off x="8610600" y="3773577"/>
            <a:ext cx="343866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Currently ~2.8GW export capacity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298477-509E-8162-1D10-D83F03EF664F}"/>
              </a:ext>
            </a:extLst>
          </p:cNvPr>
          <p:cNvSpPr/>
          <p:nvPr/>
        </p:nvSpPr>
        <p:spPr>
          <a:xfrm>
            <a:off x="8153399" y="425461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B48F4B-3537-45EE-C6F1-C187090E089F}"/>
              </a:ext>
            </a:extLst>
          </p:cNvPr>
          <p:cNvSpPr/>
          <p:nvPr/>
        </p:nvSpPr>
        <p:spPr>
          <a:xfrm>
            <a:off x="261522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276C53-5C03-A857-4A58-6E5785FF0A1A}"/>
              </a:ext>
            </a:extLst>
          </p:cNvPr>
          <p:cNvSpPr/>
          <p:nvPr/>
        </p:nvSpPr>
        <p:spPr>
          <a:xfrm>
            <a:off x="240594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DB37FE-7775-9AA3-F2E4-92A096B80BD3}"/>
              </a:ext>
            </a:extLst>
          </p:cNvPr>
          <p:cNvSpPr/>
          <p:nvPr/>
        </p:nvSpPr>
        <p:spPr>
          <a:xfrm>
            <a:off x="4407715" y="386680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015DFB-5022-EC02-3C0C-2D7A4BFFB18A}"/>
              </a:ext>
            </a:extLst>
          </p:cNvPr>
          <p:cNvSpPr/>
          <p:nvPr/>
        </p:nvSpPr>
        <p:spPr>
          <a:xfrm>
            <a:off x="7705986" y="446797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ADBFC-3042-8E69-0D02-648C05E3BCC6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Map Source: </a:t>
            </a:r>
            <a:r>
              <a:rPr lang="en-US" sz="800" dirty="0">
                <a:hlinkClick r:id="rId3"/>
              </a:rPr>
              <a:t>ENTSO-E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2585498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BF70-A99F-1CB2-261F-AF85D449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Exports to France were below average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378A-C6F0-E641-44F0-9C794944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5A36E-137A-DB4D-639A-E5E0C45E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23</a:t>
            </a:fld>
            <a:endParaRPr lang="es-ES" altLang="es-ES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8AC6C9A8-22EB-8BD2-1AE4-E48F7E35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975436"/>
            <a:ext cx="10781303" cy="5390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F339-034C-E794-6C3F-484CB6D17942}"/>
              </a:ext>
            </a:extLst>
          </p:cNvPr>
          <p:cNvSpPr txBox="1"/>
          <p:nvPr/>
        </p:nvSpPr>
        <p:spPr>
          <a:xfrm>
            <a:off x="2021746" y="5358533"/>
            <a:ext cx="555770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~6am, exports to France fall below the seasonal average.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D0DE97-BE85-DC16-7D17-85671157087B}"/>
              </a:ext>
            </a:extLst>
          </p:cNvPr>
          <p:cNvCxnSpPr>
            <a:cxnSpLocks/>
          </p:cNvCxnSpPr>
          <p:nvPr/>
        </p:nvCxnSpPr>
        <p:spPr>
          <a:xfrm flipH="1" flipV="1">
            <a:off x="3892492" y="2684477"/>
            <a:ext cx="453005" cy="2674056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B212D4-5A8C-BA0C-3F01-1546782BEE5A}"/>
              </a:ext>
            </a:extLst>
          </p:cNvPr>
          <p:cNvCxnSpPr>
            <a:cxnSpLocks/>
          </p:cNvCxnSpPr>
          <p:nvPr/>
        </p:nvCxnSpPr>
        <p:spPr>
          <a:xfrm flipV="1">
            <a:off x="4345497" y="3179428"/>
            <a:ext cx="234892" cy="2179105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5">
            <a:extLst>
              <a:ext uri="{FF2B5EF4-FFF2-40B4-BE49-F238E27FC236}">
                <a16:creationId xmlns:a16="http://schemas.microsoft.com/office/drawing/2014/main" id="{7FF8B415-BC48-1DAC-57C4-C2311140B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8813" y="176516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A6A8F7-88C6-568D-F3D6-2DB8B5384A42}"/>
              </a:ext>
            </a:extLst>
          </p:cNvPr>
          <p:cNvSpPr txBox="1"/>
          <p:nvPr/>
        </p:nvSpPr>
        <p:spPr>
          <a:xfrm>
            <a:off x="1271332" y="6358010"/>
            <a:ext cx="2869347" cy="27699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Source: ENTSO-E Transparency Platform</a:t>
            </a:r>
          </a:p>
        </p:txBody>
      </p:sp>
    </p:spTree>
    <p:extLst>
      <p:ext uri="{BB962C8B-B14F-4D97-AF65-F5344CB8AC3E}">
        <p14:creationId xmlns:p14="http://schemas.microsoft.com/office/powerpoint/2010/main" val="1553427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BD19-E35D-0F58-F581-C90481EE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92DFF-141B-51F4-69D7-87A812B5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BFF95-5D93-36A0-8F45-9B81BE7F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24</a:t>
            </a:fld>
            <a:endParaRPr lang="es-ES" altLang="es-E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DF3A24-BFF2-D950-EC89-5327EB736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014672"/>
            <a:ext cx="11550770" cy="5380500"/>
          </a:xfrm>
        </p:spPr>
        <p:txBody>
          <a:bodyPr/>
          <a:lstStyle/>
          <a:p>
            <a:r>
              <a:rPr lang="en-US" dirty="0"/>
              <a:t>On April 28</a:t>
            </a:r>
            <a:r>
              <a:rPr lang="en-US" baseline="30000" dirty="0"/>
              <a:t>th</a:t>
            </a:r>
            <a:r>
              <a:rPr lang="en-US" dirty="0"/>
              <a:t>, 2025, the operating conditions on the Spanish grid were challenging, but not unprecedented.</a:t>
            </a:r>
          </a:p>
          <a:p>
            <a:endParaRPr lang="en-US" dirty="0"/>
          </a:p>
          <a:p>
            <a:r>
              <a:rPr lang="en-US" dirty="0"/>
              <a:t>The authors are actively working to reconstruct the grid conditions of April 28 and will continue to publish our findings publicly.</a:t>
            </a:r>
          </a:p>
          <a:p>
            <a:endParaRPr lang="en-US" dirty="0"/>
          </a:p>
          <a:p>
            <a:r>
              <a:rPr lang="en-US" dirty="0"/>
              <a:t>Any feedback or relevant data is appreciated! </a:t>
            </a:r>
          </a:p>
          <a:p>
            <a:pPr lvl="1"/>
            <a:r>
              <a:rPr lang="en-US" dirty="0"/>
              <a:t>Professor Pablo García Fernández: </a:t>
            </a:r>
            <a:r>
              <a:rPr lang="en-US" dirty="0">
                <a:hlinkClick r:id="rId2"/>
              </a:rPr>
              <a:t>garciafpablo@uniovi.es</a:t>
            </a:r>
            <a:endParaRPr lang="en-US" dirty="0"/>
          </a:p>
          <a:p>
            <a:pPr lvl="1"/>
            <a:r>
              <a:rPr lang="en-US" dirty="0"/>
              <a:t>Bryan Murray: uo292264@uniovi.es</a:t>
            </a:r>
          </a:p>
        </p:txBody>
      </p:sp>
    </p:spTree>
    <p:extLst>
      <p:ext uri="{BB962C8B-B14F-4D97-AF65-F5344CB8AC3E}">
        <p14:creationId xmlns:p14="http://schemas.microsoft.com/office/powerpoint/2010/main" val="442345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F2D4-BDDA-4675-9E5D-EAA76C4C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E7A16FC-5441-26D6-EEC7-EBC87FBC560F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D21DFF-47F3-4651-0614-3E6F383F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25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7C085E-995A-6D6D-AEFC-AE153E0B3A91}"/>
              </a:ext>
            </a:extLst>
          </p:cNvPr>
          <p:cNvSpPr txBox="1"/>
          <p:nvPr/>
        </p:nvSpPr>
        <p:spPr>
          <a:xfrm>
            <a:off x="2252663" y="2787650"/>
            <a:ext cx="7596187" cy="92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LEMUR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08858A-EDB6-BBF6-EFB8-92CE683D63B6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9A4D5E0-3A45-A7C8-6E5F-66CA40D05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1DB6920-B177-CFB4-6C48-6A91DA64D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8873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A025465-2551-B84E-8F52-B4CA8926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75DE5F0-2340-4BBD-AC13-1753A5E8EB02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26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55299" name="CuadroTexto 3">
            <a:extLst>
              <a:ext uri="{FF2B5EF4-FFF2-40B4-BE49-F238E27FC236}">
                <a16:creationId xmlns:a16="http://schemas.microsoft.com/office/drawing/2014/main" id="{23C61BA9-3E65-597F-B208-F01767E46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2425700"/>
            <a:ext cx="54641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dirty="0">
                <a:latin typeface="Cabin" pitchFamily="2" charset="0"/>
              </a:rPr>
              <a:t>LEMUR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a </a:t>
            </a:r>
            <a:r>
              <a:rPr lang="es-ES" altLang="es-ES" b="1" dirty="0" err="1">
                <a:latin typeface="Cabin" pitchFamily="2" charset="0"/>
              </a:rPr>
              <a:t>multidisciplinary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research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team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with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researchers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belonging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different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areas</a:t>
            </a:r>
            <a:r>
              <a:rPr lang="es-ES" altLang="es-ES" dirty="0">
                <a:latin typeface="Cabin" pitchFamily="2" charset="0"/>
              </a:rPr>
              <a:t>: </a:t>
            </a:r>
            <a:r>
              <a:rPr lang="es-ES" altLang="es-ES" dirty="0" err="1">
                <a:latin typeface="Cabin" pitchFamily="2" charset="0"/>
              </a:rPr>
              <a:t>Electrical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, </a:t>
            </a:r>
            <a:r>
              <a:rPr lang="es-ES" altLang="es-ES" dirty="0" err="1">
                <a:latin typeface="Cabin" pitchFamily="2" charset="0"/>
              </a:rPr>
              <a:t>Power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Electronics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Automation</a:t>
            </a:r>
            <a:r>
              <a:rPr lang="es-ES" altLang="es-ES" dirty="0">
                <a:latin typeface="Cabin" pitchFamily="2" charset="0"/>
              </a:rPr>
              <a:t> and Control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. </a:t>
            </a:r>
            <a:r>
              <a:rPr lang="es-ES" altLang="es-ES" dirty="0" err="1">
                <a:latin typeface="Cabin" pitchFamily="2" charset="0"/>
              </a:rPr>
              <a:t>The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strength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based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looking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synergies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integration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among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team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members</a:t>
            </a:r>
            <a:r>
              <a:rPr lang="es-ES" altLang="es-ES" dirty="0">
                <a:latin typeface="Cabin" pitchFamily="2" charset="0"/>
              </a:rPr>
              <a:t> in </a:t>
            </a:r>
            <a:r>
              <a:rPr lang="es-ES" altLang="es-ES" dirty="0" err="1">
                <a:latin typeface="Cabin" pitchFamily="2" charset="0"/>
              </a:rPr>
              <a:t>order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apply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bigger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complex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projects</a:t>
            </a:r>
            <a:r>
              <a:rPr lang="es-ES" altLang="es-ES" dirty="0">
                <a:latin typeface="Cabin" pitchFamily="2" charset="0"/>
              </a:rPr>
              <a:t>. </a:t>
            </a:r>
          </a:p>
          <a:p>
            <a:pPr eaLnBrk="1" hangingPunct="1"/>
            <a:endParaRPr lang="es-ES" altLang="es-ES" dirty="0">
              <a:latin typeface="Cabin Regular" pitchFamily="2" charset="0"/>
            </a:endParaRPr>
          </a:p>
        </p:txBody>
      </p:sp>
      <p:pic>
        <p:nvPicPr>
          <p:cNvPr id="55300" name="Imagen 5">
            <a:extLst>
              <a:ext uri="{FF2B5EF4-FFF2-40B4-BE49-F238E27FC236}">
                <a16:creationId xmlns:a16="http://schemas.microsoft.com/office/drawing/2014/main" id="{DEE96624-C6AF-920E-7E96-4DCF27BD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1906588"/>
            <a:ext cx="3927475" cy="351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80087DE-DFA1-A147-A165-C01AB7733A25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GOAL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9A58D0-D777-0840-AA05-092804E1D903}"/>
              </a:ext>
            </a:extLst>
          </p:cNvPr>
          <p:cNvSpPr/>
          <p:nvPr/>
        </p:nvSpPr>
        <p:spPr>
          <a:xfrm flipV="1">
            <a:off x="2995613" y="2001838"/>
            <a:ext cx="2859087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5F85D3-A922-E99B-E22B-0180FB40A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B289AB2-508B-26FD-FAA0-936FFE953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0F7993-F312-F046-A97F-903138B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23E174A-FA13-43B4-A63C-BE86EAA1FA76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27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434217-CA6C-3449-B5AA-ABFE7FEE4F43}"/>
              </a:ext>
            </a:extLst>
          </p:cNvPr>
          <p:cNvSpPr txBox="1"/>
          <p:nvPr/>
        </p:nvSpPr>
        <p:spPr>
          <a:xfrm>
            <a:off x="747713" y="2425700"/>
            <a:ext cx="10606087" cy="3324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>
                <a:latin typeface="Cabin" pitchFamily="2" charset="77"/>
              </a:rPr>
              <a:t>To </a:t>
            </a:r>
            <a:r>
              <a:rPr lang="es-ES" sz="1600" err="1">
                <a:latin typeface="Cabin" pitchFamily="2" charset="77"/>
              </a:rPr>
              <a:t>integrate</a:t>
            </a:r>
            <a:r>
              <a:rPr lang="es-ES" sz="1600">
                <a:latin typeface="Cabin" pitchFamily="2" charset="77"/>
              </a:rPr>
              <a:t> in a </a:t>
            </a:r>
            <a:r>
              <a:rPr lang="es-ES" sz="1600" err="1">
                <a:latin typeface="Cabin" pitchFamily="2" charset="77"/>
              </a:rPr>
              <a:t>laboratory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environment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testing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their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integration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analysis</a:t>
            </a:r>
            <a:r>
              <a:rPr lang="es-ES" sz="1600">
                <a:latin typeface="Cabin" pitchFamily="2" charset="77"/>
              </a:rPr>
              <a:t>, a </a:t>
            </a:r>
            <a:r>
              <a:rPr lang="es-ES" sz="1600" err="1">
                <a:latin typeface="Cabin" pitchFamily="2" charset="77"/>
              </a:rPr>
              <a:t>four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level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approach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proposed</a:t>
            </a:r>
            <a:r>
              <a:rPr lang="es-ES" sz="1600">
                <a:latin typeface="Cabin" pitchFamily="2" charset="77"/>
              </a:rPr>
              <a:t>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600">
              <a:latin typeface="Cabin" pitchFamily="2" charset="77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converters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injection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efficiency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reliability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constraints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storage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compensation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transient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including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pulsating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renewable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contingencies</a:t>
            </a:r>
            <a:r>
              <a:rPr lang="es-ES" sz="1600">
                <a:latin typeface="Cabin" pitchFamily="2" charset="77"/>
              </a:rPr>
              <a:t> and virtual </a:t>
            </a:r>
            <a:r>
              <a:rPr lang="es-ES" sz="1600" err="1">
                <a:latin typeface="Cabin" pitchFamily="2" charset="77"/>
              </a:rPr>
              <a:t>zero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buildings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coordinated</a:t>
            </a:r>
            <a:r>
              <a:rPr lang="es-ES" sz="1600">
                <a:latin typeface="Cabin" pitchFamily="2" charset="77"/>
              </a:rPr>
              <a:t> control </a:t>
            </a:r>
            <a:r>
              <a:rPr lang="es-ES" sz="1600" err="1">
                <a:latin typeface="Cabin" pitchFamily="2" charset="77"/>
              </a:rPr>
              <a:t>strategies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generators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installed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in </a:t>
            </a:r>
            <a:r>
              <a:rPr lang="es-ES" sz="1600" err="1">
                <a:latin typeface="Cabin" pitchFamily="2" charset="77"/>
              </a:rPr>
              <a:t>order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behave</a:t>
            </a:r>
            <a:r>
              <a:rPr lang="es-ES" sz="1600">
                <a:latin typeface="Cabin" pitchFamily="2" charset="77"/>
              </a:rPr>
              <a:t> as a virtual </a:t>
            </a:r>
            <a:r>
              <a:rPr lang="es-ES" sz="1600" err="1">
                <a:latin typeface="Cabin" pitchFamily="2" charset="77"/>
              </a:rPr>
              <a:t>integrated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plant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flow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algorithms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unbalanced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conditions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weak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grids</a:t>
            </a:r>
            <a:r>
              <a:rPr lang="es-ES" sz="1600">
                <a:latin typeface="Cabin" pitchFamily="2" charset="77"/>
              </a:rPr>
              <a:t> (single </a:t>
            </a:r>
            <a:r>
              <a:rPr lang="es-ES" sz="1600" err="1">
                <a:latin typeface="Cabin" pitchFamily="2" charset="77"/>
              </a:rPr>
              <a:t>phase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loads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).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economic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infrastructure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models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relying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which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allow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maximize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benefits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existing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future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regulations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20C799-E239-A148-ADF3-3681DDC4490E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VISION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37A48B-ED06-684C-B584-66BF4D12E5C0}"/>
              </a:ext>
            </a:extLst>
          </p:cNvPr>
          <p:cNvSpPr/>
          <p:nvPr/>
        </p:nvSpPr>
        <p:spPr>
          <a:xfrm flipV="1">
            <a:off x="3295650" y="2008188"/>
            <a:ext cx="78089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" name="Imagen 5">
            <a:extLst>
              <a:ext uri="{FF2B5EF4-FFF2-40B4-BE49-F238E27FC236}">
                <a16:creationId xmlns:a16="http://schemas.microsoft.com/office/drawing/2014/main" id="{0691187F-7426-2E50-268E-DAD0E153A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E64C7E90-E453-BCEB-4D85-7A78E5BB0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61E976B-3C33-384A-A0AE-D160C204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BBE97E3-8C9F-42E3-9D89-BE392B084C6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28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A2567D-D3EE-1448-8A0B-D571F1852224}"/>
              </a:ext>
            </a:extLst>
          </p:cNvPr>
          <p:cNvSpPr txBox="1"/>
          <p:nvPr/>
        </p:nvSpPr>
        <p:spPr>
          <a:xfrm>
            <a:off x="-1419225" y="1725613"/>
            <a:ext cx="5106988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RESEARCH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LINES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154507-AA8A-3D4E-97B4-EB586EF1D88C}"/>
              </a:ext>
            </a:extLst>
          </p:cNvPr>
          <p:cNvSpPr/>
          <p:nvPr/>
        </p:nvSpPr>
        <p:spPr>
          <a:xfrm rot="5400000" flipV="1">
            <a:off x="1538288" y="3044825"/>
            <a:ext cx="4343400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7349" name="CuadroTexto 5">
            <a:extLst>
              <a:ext uri="{FF2B5EF4-FFF2-40B4-BE49-F238E27FC236}">
                <a16:creationId xmlns:a16="http://schemas.microsoft.com/office/drawing/2014/main" id="{BABAA58F-D4B8-C419-41D7-33C20E8F8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638" y="895350"/>
            <a:ext cx="5980112" cy="471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ANALYSIS AND DESIGN OF POWER CONVERTER TOPOLOGIES FOR ENERGY STORAGE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Design of power electronics converters with an emphasis of multiport topologies for energy storage applications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DYNAMIC ANALYSIS AND CONTROL OF POWER CONVERTERS FOR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High dynamic performance of power converters and microgrids by advanced control systems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POWER FLOW ANALYSIS FOR HYBRID DC/AC GRIDS WITH HIGH PENETRATION OF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Impact of the integration of distributed resources in the electrical grid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ENERGY DEMAND ANALYSIS AND VISUALIZATION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Analytic tools and visualization strategies for energy planning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APPLICATIONS</a:t>
            </a:r>
            <a:r>
              <a:rPr lang="es-ES" altLang="es-ES" sz="1400">
                <a:latin typeface="Cabin" pitchFamily="2" charset="0"/>
              </a:rPr>
              <a:t>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Industrial applications and knowledge transfer </a:t>
            </a:r>
          </a:p>
          <a:p>
            <a:pPr eaLnBrk="1" hangingPunct="1"/>
            <a:endParaRPr lang="en-GB" alt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48A2B4F-64EB-6C41-BC10-98F2FA13B8DD}"/>
              </a:ext>
            </a:extLst>
          </p:cNvPr>
          <p:cNvSpPr/>
          <p:nvPr/>
        </p:nvSpPr>
        <p:spPr>
          <a:xfrm>
            <a:off x="3959225" y="1563688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36DAC0A-0D63-CC42-90E6-6F35343574CE}"/>
              </a:ext>
            </a:extLst>
          </p:cNvPr>
          <p:cNvSpPr/>
          <p:nvPr/>
        </p:nvSpPr>
        <p:spPr>
          <a:xfrm>
            <a:off x="3959225" y="267017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C72E53-7808-8C46-95F3-685737430258}"/>
              </a:ext>
            </a:extLst>
          </p:cNvPr>
          <p:cNvSpPr/>
          <p:nvPr/>
        </p:nvSpPr>
        <p:spPr>
          <a:xfrm>
            <a:off x="3959225" y="3803650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D52192D-C3AE-5E4D-8C94-6C23A53A6728}"/>
              </a:ext>
            </a:extLst>
          </p:cNvPr>
          <p:cNvSpPr/>
          <p:nvPr/>
        </p:nvSpPr>
        <p:spPr>
          <a:xfrm>
            <a:off x="3959225" y="447992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1510A5-8CF1-F64C-AF37-D88839FBCCC9}"/>
              </a:ext>
            </a:extLst>
          </p:cNvPr>
          <p:cNvSpPr/>
          <p:nvPr/>
        </p:nvSpPr>
        <p:spPr>
          <a:xfrm>
            <a:off x="3959225" y="5129213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19" name="Imagen 5">
            <a:extLst>
              <a:ext uri="{FF2B5EF4-FFF2-40B4-BE49-F238E27FC236}">
                <a16:creationId xmlns:a16="http://schemas.microsoft.com/office/drawing/2014/main" id="{A24A3DB0-D8FE-BBB1-F420-60C2E13C7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7165E5E-DFAF-3BAD-84CE-3F016C9F9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537922D-F825-4D47-9E94-D11A99E83262}"/>
              </a:ext>
            </a:extLst>
          </p:cNvPr>
          <p:cNvSpPr txBox="1"/>
          <p:nvPr/>
        </p:nvSpPr>
        <p:spPr>
          <a:xfrm>
            <a:off x="6573838" y="3227388"/>
            <a:ext cx="4876800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THANK YOU!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Please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get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in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touch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47AB1D-F527-5647-A666-16E90F06B9BC}"/>
              </a:ext>
            </a:extLst>
          </p:cNvPr>
          <p:cNvSpPr/>
          <p:nvPr/>
        </p:nvSpPr>
        <p:spPr>
          <a:xfrm flipV="1">
            <a:off x="9559925" y="4579938"/>
            <a:ext cx="17510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0595" name="Imagen 6">
            <a:extLst>
              <a:ext uri="{FF2B5EF4-FFF2-40B4-BE49-F238E27FC236}">
                <a16:creationId xmlns:a16="http://schemas.microsoft.com/office/drawing/2014/main" id="{415F2041-1FEE-9D64-AC58-D1B77608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488" y="1995488"/>
            <a:ext cx="1220787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860FD6-9DB1-88DC-2DE7-9E852476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29</a:t>
            </a:fld>
            <a:endParaRPr lang="es-ES" alt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kerlan_Lemur" id="{8D517BEA-D79C-FB42-9E37-31EAC92D46F8}" vid="{E7E306BE-2CEC-8B4E-A1B8-4D3C7ABF9E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B546F8B429F441AB517FD40C7758B9" ma:contentTypeVersion="9" ma:contentTypeDescription="Crear nuevo documento." ma:contentTypeScope="" ma:versionID="befdb5c2a76d165b7963a9516cf1ff49">
  <xsd:schema xmlns:xsd="http://www.w3.org/2001/XMLSchema" xmlns:xs="http://www.w3.org/2001/XMLSchema" xmlns:p="http://schemas.microsoft.com/office/2006/metadata/properties" xmlns:ns2="2711c295-d9dc-4290-94d2-434158111b76" targetNamespace="http://schemas.microsoft.com/office/2006/metadata/properties" ma:root="true" ma:fieldsID="ca2b8862da53eb6a9ce780760509eba3" ns2:_="">
    <xsd:import namespace="2711c295-d9dc-4290-94d2-434158111b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1c295-d9dc-4290-94d2-434158111b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6D57E5-64C1-4DFF-BAE4-F891A5313303}">
  <ds:schemaRefs>
    <ds:schemaRef ds:uri="2711c295-d9dc-4290-94d2-434158111b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347A6E-B2D6-4CDD-A77A-DC5715427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8455</TotalTime>
  <Words>1758</Words>
  <Application>Microsoft Macintosh PowerPoint</Application>
  <PresentationFormat>Widescreen</PresentationFormat>
  <Paragraphs>281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Cabin</vt:lpstr>
      <vt:lpstr>Cabin Regular</vt:lpstr>
      <vt:lpstr>Calibri</vt:lpstr>
      <vt:lpstr>MajritTx</vt:lpstr>
      <vt:lpstr>Miller Display</vt:lpstr>
      <vt:lpstr>Open Sans</vt:lpstr>
      <vt:lpstr>Open Sans Extrabold</vt:lpstr>
      <vt:lpstr>Wingdings</vt:lpstr>
      <vt:lpstr>Tema de Office</vt:lpstr>
      <vt:lpstr>PowerPoint Presentation</vt:lpstr>
      <vt:lpstr>Disclaimers</vt:lpstr>
      <vt:lpstr>PowerPoint Presentation</vt:lpstr>
      <vt:lpstr>PowerPoint Presentation</vt:lpstr>
      <vt:lpstr>Overview of European grid Frequencies just before the Blackout</vt:lpstr>
      <vt:lpstr>Early Oscillations hint at Instability</vt:lpstr>
      <vt:lpstr>Oscillations Worsen Rapidly ~ 12:20pm</vt:lpstr>
      <vt:lpstr>Observing Spurious Oscillations</vt:lpstr>
      <vt:lpstr>Market Change at 12:30pm – No Problem</vt:lpstr>
      <vt:lpstr>Iberia Separates from Europe</vt:lpstr>
      <vt:lpstr>Frequency is consistently to fast all morning</vt:lpstr>
      <vt:lpstr>PowerPoint Presentation</vt:lpstr>
      <vt:lpstr>Rocof Overview</vt:lpstr>
      <vt:lpstr>Rocof stayed within limits</vt:lpstr>
      <vt:lpstr>PowerPoint Presentation</vt:lpstr>
      <vt:lpstr>Generation MIX on April 28, 2025</vt:lpstr>
      <vt:lpstr>Inertia Estimation Methods – 1 of 2</vt:lpstr>
      <vt:lpstr>Inertia Estimation Methods – 2 of 2</vt:lpstr>
      <vt:lpstr>Minimum Inertia Estimates for April 28, 2025</vt:lpstr>
      <vt:lpstr>PowerPoint Presentation</vt:lpstr>
      <vt:lpstr>PowerPoint Presentation</vt:lpstr>
      <vt:lpstr>Connections with France</vt:lpstr>
      <vt:lpstr>Exports to France were below average</vt:lpstr>
      <vt:lpstr>Conclusions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LEMUR</dc:title>
  <dc:subject/>
  <dc:creator>LEMUR, Universidad de Oviedo</dc:creator>
  <cp:keywords/>
  <dc:description/>
  <cp:lastModifiedBy>Bryan M</cp:lastModifiedBy>
  <cp:revision>130</cp:revision>
  <cp:lastPrinted>2020-06-11T17:59:51Z</cp:lastPrinted>
  <dcterms:created xsi:type="dcterms:W3CDTF">2020-05-07T12:55:32Z</dcterms:created>
  <dcterms:modified xsi:type="dcterms:W3CDTF">2025-06-02T08:38:29Z</dcterms:modified>
  <cp:category/>
</cp:coreProperties>
</file>